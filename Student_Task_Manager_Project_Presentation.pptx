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an auto-scaling and self-healing cloud-native Student Task Manager. We built the application with Spring Boot, packaged it with Docker, provisioned AWS using Terraform, and deployed it on Kubernetes using K3s. The project was completed by Myisha Siddiqui, Manan Bhasin, and Rishabh Raj.</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visible application is a Student Task Manager called StudySpace. A student can create, edit, complete, filter, and delete tasks. The browser sends requests to the Spring Boot REST API, and the API stores the records in MySQL. Refreshing the page proves that the data is persistent rather than held only in the browser. This real workload gives us something meaningful to scale and recover.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request path is Browser to the Kubernetes NodePort Service, then to one or more Spring Boot pods, and finally to private RDS MySQL. The pods are stateless, so either replica can serve a request while all replicas share the same database. Docker creates the image and ECR stores it. Terraform provisions the VPC, EC2 host, RDS, ECR, IAM, and security rules. Prometheus collects metrics and Grafana visualizes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technology has a clear responsibility. Docker provides a consistent image. ECR stores that image. Terraform makes the infrastructure repeatable. K3s provides Kubernetes features on a cost-conscious EC2 host. RDS keeps data independent of pod lifecycles. GitHub Actions tests the application and validates the infrastructure code. The main design point is separation: pods can be replaced without losing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Horizontal Pod Autoscaler targets 60 percent CPU and is limited to one to two replicas for this low-cost demo. During a bounded k6 load run, CPU rose above the target and peaked at 319 percent of the requested CPU. Kubernetes increased the deployment from one pod to two, and both became Ready. The run completed 5,699 requests with zero failures and a p95 of 403.98 milliseconds. After the 180-second stabilization period, it returned to one pod.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Self-healing was demonstrated in two ways. First, we deleted the running API pod. The Deployment controller compared the actual state with the desired state of one replica and created a replacement, which reached 1/1 Running. Second, we intentionally paused the Java process. After the liveness probe failed, Kubernetes restarted the container and readiness returned UP. This proves pod and container recovery; it does not claim EC2 host-level failover because the cluster has one node.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Spring Boot Actuator exposes application and JVM metrics. Prometheus scrapes those metrics every 15 seconds together with Kubernetes state metrics. Grafana presents six operational panels: request rate, error rate, latency, ready replicas, JVM heap, and process CPU. The application also has a Demo Console that combines current Kubernetes and Prometheus information on one page. Grafana health is currently OK and the dashboard is provisioned from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live demonstration, first open StudySpace. Create a task, mark it complete, and refresh to prove that RDS persists the data. Next open the Demo Console and point out readiness, the Deployment, pod state, HPA configuration, and live metrics. Start the bounded read-only load generator and explain that the HPA can move from one to two replicas when CPU exceeds 60 percent. Finally open Grafana and show the six panels. Conclude that Docker delivered the image, Terraform built AWS, Kubernetes scaled and recovered the workload, and Prometheus plus Grafana made the behaviour visible. Public access is temporary and should be closed after the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32.236.242.165:30080/" TargetMode="External"/><Relationship Id="rId3" Type="http://schemas.openxmlformats.org/officeDocument/2006/relationships/hyperlink" Target="http://32.236.242.165:30080/demo.html" TargetMode="External"/><Relationship Id="rId4" Type="http://schemas.openxmlformats.org/officeDocument/2006/relationships/hyperlink" Target="http://32.236.242.165:30300/d/student-task-manager-ops/student-task-manager-operations" TargetMode="External"/><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18"/>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94360"/>
            <a:ext cx="1508760" cy="347472"/>
          </a:xfrm>
          <a:prstGeom prst="roundRect">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08076"/>
            <a:ext cx="1508760" cy="274320"/>
          </a:xfrm>
          <a:prstGeom prst="rect">
            <a:avLst/>
          </a:prstGeom>
          <a:noFill/>
        </p:spPr>
        <p:txBody>
          <a:bodyPr wrap="square" lIns="0" rIns="0" tIns="0" bIns="0" anchor="ctr">
            <a:spAutoFit/>
          </a:bodyPr>
          <a:lstStyle/>
          <a:p>
            <a:pPr algn="ctr"/>
            <a:r>
              <a:rPr sz="1000" b="1">
                <a:solidFill>
                  <a:srgbClr val="277E63"/>
                </a:solidFill>
                <a:latin typeface="Aptos"/>
              </a:rPr>
              <a:t>LIVE AWS DEMO</a:t>
            </a:r>
          </a:p>
        </p:txBody>
      </p:sp>
      <p:sp>
        <p:nvSpPr>
          <p:cNvPr id="5" name="TextBox 4"/>
          <p:cNvSpPr txBox="1"/>
          <p:nvPr/>
        </p:nvSpPr>
        <p:spPr>
          <a:xfrm>
            <a:off x="640080" y="1234440"/>
            <a:ext cx="6858000" cy="1600200"/>
          </a:xfrm>
          <a:prstGeom prst="rect">
            <a:avLst/>
          </a:prstGeom>
          <a:noFill/>
        </p:spPr>
        <p:txBody>
          <a:bodyPr wrap="square" lIns="0" rIns="0" tIns="0" bIns="0" anchor="t">
            <a:spAutoFit/>
          </a:bodyPr>
          <a:lstStyle/>
          <a:p>
            <a:pPr algn="l"/>
            <a:r>
              <a:rPr sz="3900" b="1">
                <a:solidFill>
                  <a:srgbClr val="FFFFFF"/>
                </a:solidFill>
                <a:latin typeface="Aptos"/>
              </a:rPr>
              <a:t>Auto-Scaling &amp;
Self-Healing</a:t>
            </a:r>
          </a:p>
        </p:txBody>
      </p:sp>
      <p:sp>
        <p:nvSpPr>
          <p:cNvPr id="6" name="TextBox 5"/>
          <p:cNvSpPr txBox="1"/>
          <p:nvPr/>
        </p:nvSpPr>
        <p:spPr>
          <a:xfrm>
            <a:off x="667512" y="2926080"/>
            <a:ext cx="6858000" cy="502920"/>
          </a:xfrm>
          <a:prstGeom prst="rect">
            <a:avLst/>
          </a:prstGeom>
          <a:noFill/>
        </p:spPr>
        <p:txBody>
          <a:bodyPr wrap="square" lIns="0" rIns="0" tIns="0" bIns="0" anchor="t">
            <a:spAutoFit/>
          </a:bodyPr>
          <a:lstStyle/>
          <a:p>
            <a:pPr algn="l"/>
            <a:r>
              <a:rPr sz="2200" b="1">
                <a:solidFill>
                  <a:srgbClr val="BCECDD"/>
                </a:solidFill>
                <a:latin typeface="Aptos"/>
              </a:rPr>
              <a:t>Cloud-Native Student Task Manager</a:t>
            </a:r>
          </a:p>
        </p:txBody>
      </p:sp>
      <p:sp>
        <p:nvSpPr>
          <p:cNvPr id="7" name="TextBox 6"/>
          <p:cNvSpPr txBox="1"/>
          <p:nvPr/>
        </p:nvSpPr>
        <p:spPr>
          <a:xfrm>
            <a:off x="667512" y="3566160"/>
            <a:ext cx="6583680" cy="365760"/>
          </a:xfrm>
          <a:prstGeom prst="rect">
            <a:avLst/>
          </a:prstGeom>
          <a:noFill/>
        </p:spPr>
        <p:txBody>
          <a:bodyPr wrap="square" lIns="0" rIns="0" tIns="0" bIns="0" anchor="t">
            <a:spAutoFit/>
          </a:bodyPr>
          <a:lstStyle/>
          <a:p>
            <a:pPr algn="l"/>
            <a:r>
              <a:rPr sz="1500" b="1">
                <a:solidFill>
                  <a:srgbClr val="C0D2CB"/>
                </a:solidFill>
                <a:latin typeface="Aptos"/>
              </a:rPr>
              <a:t>Kubernetes  •  Docker  •  Terraform  •  AWS</a:t>
            </a:r>
          </a:p>
        </p:txBody>
      </p:sp>
      <p:sp>
        <p:nvSpPr>
          <p:cNvPr id="8" name="Rounded Rectangle 7"/>
          <p:cNvSpPr/>
          <p:nvPr/>
        </p:nvSpPr>
        <p:spPr>
          <a:xfrm>
            <a:off x="7909560" y="822960"/>
            <a:ext cx="3474720" cy="489204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234440"/>
            <a:ext cx="2651760" cy="274320"/>
          </a:xfrm>
          <a:prstGeom prst="rect">
            <a:avLst/>
          </a:prstGeom>
          <a:noFill/>
        </p:spPr>
        <p:txBody>
          <a:bodyPr wrap="square" lIns="0" rIns="0" tIns="0" bIns="0" anchor="t">
            <a:spAutoFit/>
          </a:bodyPr>
          <a:lstStyle/>
          <a:p>
            <a:pPr algn="l"/>
            <a:r>
              <a:rPr sz="1100" b="1">
                <a:solidFill>
                  <a:srgbClr val="BCECDD"/>
                </a:solidFill>
                <a:latin typeface="Aptos"/>
              </a:rPr>
              <a:t>TEAM</a:t>
            </a:r>
          </a:p>
        </p:txBody>
      </p:sp>
      <p:sp>
        <p:nvSpPr>
          <p:cNvPr id="10" name="Rounded Rectangle 9"/>
          <p:cNvSpPr/>
          <p:nvPr/>
        </p:nvSpPr>
        <p:spPr>
          <a:xfrm>
            <a:off x="8229600" y="1783080"/>
            <a:ext cx="438912" cy="438912"/>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19656"/>
            <a:ext cx="438912" cy="274320"/>
          </a:xfrm>
          <a:prstGeom prst="rect">
            <a:avLst/>
          </a:prstGeom>
          <a:noFill/>
        </p:spPr>
        <p:txBody>
          <a:bodyPr wrap="square" lIns="0" rIns="0" tIns="0" bIns="0" anchor="t">
            <a:spAutoFit/>
          </a:bodyPr>
          <a:lstStyle/>
          <a:p>
            <a:pPr algn="ctr"/>
            <a:r>
              <a:rPr sz="1100" b="1">
                <a:solidFill>
                  <a:srgbClr val="FFFFFF"/>
                </a:solidFill>
                <a:latin typeface="Aptos"/>
              </a:rPr>
              <a:t>1</a:t>
            </a:r>
          </a:p>
        </p:txBody>
      </p:sp>
      <p:sp>
        <p:nvSpPr>
          <p:cNvPr id="12" name="TextBox 11"/>
          <p:cNvSpPr txBox="1"/>
          <p:nvPr/>
        </p:nvSpPr>
        <p:spPr>
          <a:xfrm>
            <a:off x="8851392" y="1773936"/>
            <a:ext cx="2103120" cy="274320"/>
          </a:xfrm>
          <a:prstGeom prst="rect">
            <a:avLst/>
          </a:prstGeom>
          <a:noFill/>
        </p:spPr>
        <p:txBody>
          <a:bodyPr wrap="square" lIns="0" rIns="0" tIns="0" bIns="0" anchor="t">
            <a:spAutoFit/>
          </a:bodyPr>
          <a:lstStyle/>
          <a:p>
            <a:pPr algn="l"/>
            <a:r>
              <a:rPr sz="1500" b="1">
                <a:solidFill>
                  <a:srgbClr val="FFFFFF"/>
                </a:solidFill>
                <a:latin typeface="Aptos"/>
              </a:rPr>
              <a:t>Myisha Siddiqui</a:t>
            </a:r>
          </a:p>
        </p:txBody>
      </p:sp>
      <p:sp>
        <p:nvSpPr>
          <p:cNvPr id="13" name="TextBox 12"/>
          <p:cNvSpPr txBox="1"/>
          <p:nvPr/>
        </p:nvSpPr>
        <p:spPr>
          <a:xfrm>
            <a:off x="8851392" y="2057400"/>
            <a:ext cx="1828800" cy="228600"/>
          </a:xfrm>
          <a:prstGeom prst="rect">
            <a:avLst/>
          </a:prstGeom>
          <a:noFill/>
        </p:spPr>
        <p:txBody>
          <a:bodyPr wrap="square" lIns="0" rIns="0" tIns="0" bIns="0" anchor="t">
            <a:spAutoFit/>
          </a:bodyPr>
          <a:lstStyle/>
          <a:p>
            <a:pPr algn="l"/>
            <a:r>
              <a:rPr sz="1000" b="0">
                <a:solidFill>
                  <a:srgbClr val="B0C6BE"/>
                </a:solidFill>
                <a:latin typeface="Aptos"/>
              </a:rPr>
              <a:t>240905560</a:t>
            </a:r>
          </a:p>
        </p:txBody>
      </p:sp>
      <p:sp>
        <p:nvSpPr>
          <p:cNvPr id="14" name="Rounded Rectangle 13"/>
          <p:cNvSpPr/>
          <p:nvPr/>
        </p:nvSpPr>
        <p:spPr>
          <a:xfrm>
            <a:off x="8229600" y="2816352"/>
            <a:ext cx="438912" cy="438912"/>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852928"/>
            <a:ext cx="438912" cy="274320"/>
          </a:xfrm>
          <a:prstGeom prst="rect">
            <a:avLst/>
          </a:prstGeom>
          <a:noFill/>
        </p:spPr>
        <p:txBody>
          <a:bodyPr wrap="square" lIns="0" rIns="0" tIns="0" bIns="0" anchor="t">
            <a:spAutoFit/>
          </a:bodyPr>
          <a:lstStyle/>
          <a:p>
            <a:pPr algn="ctr"/>
            <a:r>
              <a:rPr sz="1100" b="1">
                <a:solidFill>
                  <a:srgbClr val="FFFFFF"/>
                </a:solidFill>
                <a:latin typeface="Aptos"/>
              </a:rPr>
              <a:t>2</a:t>
            </a:r>
          </a:p>
        </p:txBody>
      </p:sp>
      <p:sp>
        <p:nvSpPr>
          <p:cNvPr id="16" name="TextBox 15"/>
          <p:cNvSpPr txBox="1"/>
          <p:nvPr/>
        </p:nvSpPr>
        <p:spPr>
          <a:xfrm>
            <a:off x="8851392" y="2807208"/>
            <a:ext cx="2103120" cy="274320"/>
          </a:xfrm>
          <a:prstGeom prst="rect">
            <a:avLst/>
          </a:prstGeom>
          <a:noFill/>
        </p:spPr>
        <p:txBody>
          <a:bodyPr wrap="square" lIns="0" rIns="0" tIns="0" bIns="0" anchor="t">
            <a:spAutoFit/>
          </a:bodyPr>
          <a:lstStyle/>
          <a:p>
            <a:pPr algn="l"/>
            <a:r>
              <a:rPr sz="1500" b="1">
                <a:solidFill>
                  <a:srgbClr val="FFFFFF"/>
                </a:solidFill>
                <a:latin typeface="Aptos"/>
              </a:rPr>
              <a:t>Manan Bhasin</a:t>
            </a:r>
          </a:p>
        </p:txBody>
      </p:sp>
      <p:sp>
        <p:nvSpPr>
          <p:cNvPr id="17" name="TextBox 16"/>
          <p:cNvSpPr txBox="1"/>
          <p:nvPr/>
        </p:nvSpPr>
        <p:spPr>
          <a:xfrm>
            <a:off x="8851392" y="3090672"/>
            <a:ext cx="1828800" cy="228600"/>
          </a:xfrm>
          <a:prstGeom prst="rect">
            <a:avLst/>
          </a:prstGeom>
          <a:noFill/>
        </p:spPr>
        <p:txBody>
          <a:bodyPr wrap="square" lIns="0" rIns="0" tIns="0" bIns="0" anchor="t">
            <a:spAutoFit/>
          </a:bodyPr>
          <a:lstStyle/>
          <a:p>
            <a:pPr algn="l"/>
            <a:r>
              <a:rPr sz="1000" b="0">
                <a:solidFill>
                  <a:srgbClr val="B0C6BE"/>
                </a:solidFill>
                <a:latin typeface="Aptos"/>
              </a:rPr>
              <a:t>240905492</a:t>
            </a:r>
          </a:p>
        </p:txBody>
      </p:sp>
      <p:sp>
        <p:nvSpPr>
          <p:cNvPr id="18" name="Rounded Rectangle 17"/>
          <p:cNvSpPr/>
          <p:nvPr/>
        </p:nvSpPr>
        <p:spPr>
          <a:xfrm>
            <a:off x="8229600" y="3849624"/>
            <a:ext cx="438912" cy="438912"/>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3886200"/>
            <a:ext cx="438912" cy="274320"/>
          </a:xfrm>
          <a:prstGeom prst="rect">
            <a:avLst/>
          </a:prstGeom>
          <a:noFill/>
        </p:spPr>
        <p:txBody>
          <a:bodyPr wrap="square" lIns="0" rIns="0" tIns="0" bIns="0" anchor="t">
            <a:spAutoFit/>
          </a:bodyPr>
          <a:lstStyle/>
          <a:p>
            <a:pPr algn="ctr"/>
            <a:r>
              <a:rPr sz="1100" b="1">
                <a:solidFill>
                  <a:srgbClr val="FFFFFF"/>
                </a:solidFill>
                <a:latin typeface="Aptos"/>
              </a:rPr>
              <a:t>3</a:t>
            </a:r>
          </a:p>
        </p:txBody>
      </p:sp>
      <p:sp>
        <p:nvSpPr>
          <p:cNvPr id="20" name="TextBox 19"/>
          <p:cNvSpPr txBox="1"/>
          <p:nvPr/>
        </p:nvSpPr>
        <p:spPr>
          <a:xfrm>
            <a:off x="8851392" y="3840480"/>
            <a:ext cx="2103120" cy="274320"/>
          </a:xfrm>
          <a:prstGeom prst="rect">
            <a:avLst/>
          </a:prstGeom>
          <a:noFill/>
        </p:spPr>
        <p:txBody>
          <a:bodyPr wrap="square" lIns="0" rIns="0" tIns="0" bIns="0" anchor="t">
            <a:spAutoFit/>
          </a:bodyPr>
          <a:lstStyle/>
          <a:p>
            <a:pPr algn="l"/>
            <a:r>
              <a:rPr sz="1500" b="1">
                <a:solidFill>
                  <a:srgbClr val="FFFFFF"/>
                </a:solidFill>
                <a:latin typeface="Aptos"/>
              </a:rPr>
              <a:t>Rishabh Raj</a:t>
            </a:r>
          </a:p>
        </p:txBody>
      </p:sp>
      <p:sp>
        <p:nvSpPr>
          <p:cNvPr id="21" name="TextBox 20"/>
          <p:cNvSpPr txBox="1"/>
          <p:nvPr/>
        </p:nvSpPr>
        <p:spPr>
          <a:xfrm>
            <a:off x="8851392" y="4123944"/>
            <a:ext cx="1828800" cy="228600"/>
          </a:xfrm>
          <a:prstGeom prst="rect">
            <a:avLst/>
          </a:prstGeom>
          <a:noFill/>
        </p:spPr>
        <p:txBody>
          <a:bodyPr wrap="square" lIns="0" rIns="0" tIns="0" bIns="0" anchor="t">
            <a:spAutoFit/>
          </a:bodyPr>
          <a:lstStyle/>
          <a:p>
            <a:pPr algn="l"/>
            <a:r>
              <a:rPr sz="1000" b="0">
                <a:solidFill>
                  <a:srgbClr val="B0C6BE"/>
                </a:solidFill>
                <a:latin typeface="Aptos"/>
              </a:rPr>
              <a:t>240905420</a:t>
            </a:r>
          </a:p>
        </p:txBody>
      </p:sp>
      <p:sp>
        <p:nvSpPr>
          <p:cNvPr id="22" name="TextBox 21"/>
          <p:cNvSpPr txBox="1"/>
          <p:nvPr/>
        </p:nvSpPr>
        <p:spPr>
          <a:xfrm>
            <a:off x="8275320" y="5074920"/>
            <a:ext cx="2651760" cy="274320"/>
          </a:xfrm>
          <a:prstGeom prst="rect">
            <a:avLst/>
          </a:prstGeom>
          <a:noFill/>
        </p:spPr>
        <p:txBody>
          <a:bodyPr wrap="square" lIns="0" rIns="0" tIns="0" bIns="0" anchor="t">
            <a:spAutoFit/>
          </a:bodyPr>
          <a:lstStyle/>
          <a:p>
            <a:pPr algn="l"/>
            <a:r>
              <a:rPr sz="1000" b="1">
                <a:solidFill>
                  <a:srgbClr val="BCECDD"/>
                </a:solidFill>
                <a:latin typeface="Aptos"/>
              </a:rPr>
              <a:t>AWS Sydney  /  ap-southeast-2</a:t>
            </a:r>
          </a:p>
        </p:txBody>
      </p:sp>
      <p:sp>
        <p:nvSpPr>
          <p:cNvPr id="23" name="TextBox 22"/>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91A79E"/>
                </a:solidFill>
                <a:latin typeface="Aptos"/>
              </a:rPr>
              <a:t>STUDENT TASK MANAGER  •  CLOUD COMPUTING MINI PROJECT</a:t>
            </a:r>
          </a:p>
        </p:txBody>
      </p:sp>
      <p:sp>
        <p:nvSpPr>
          <p:cNvPr id="24" name="TextBox 23"/>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91A79E"/>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TextBox 1"/>
          <p:cNvSpPr txBox="1"/>
          <p:nvPr/>
        </p:nvSpPr>
        <p:spPr>
          <a:xfrm>
            <a:off x="502920" y="393192"/>
            <a:ext cx="502920" cy="320040"/>
          </a:xfrm>
          <a:prstGeom prst="rect">
            <a:avLst/>
          </a:prstGeom>
          <a:noFill/>
        </p:spPr>
        <p:txBody>
          <a:bodyPr wrap="square" lIns="0" rIns="0" tIns="0" bIns="0" anchor="t">
            <a:spAutoFit/>
          </a:bodyPr>
          <a:lstStyle/>
          <a:p>
            <a:pPr algn="l"/>
            <a:r>
              <a:rPr sz="1100" b="1">
                <a:solidFill>
                  <a:srgbClr val="277E63"/>
                </a:solidFill>
                <a:latin typeface="Aptos"/>
              </a:rPr>
              <a:t>02</a:t>
            </a:r>
          </a:p>
        </p:txBody>
      </p:sp>
      <p:sp>
        <p:nvSpPr>
          <p:cNvPr id="3" name="TextBox 2"/>
          <p:cNvSpPr txBox="1"/>
          <p:nvPr/>
        </p:nvSpPr>
        <p:spPr>
          <a:xfrm>
            <a:off x="987552" y="393192"/>
            <a:ext cx="4389120" cy="320040"/>
          </a:xfrm>
          <a:prstGeom prst="rect">
            <a:avLst/>
          </a:prstGeom>
          <a:noFill/>
        </p:spPr>
        <p:txBody>
          <a:bodyPr wrap="square" lIns="0" rIns="0" tIns="0" bIns="0" anchor="t">
            <a:spAutoFit/>
          </a:bodyPr>
          <a:lstStyle/>
          <a:p>
            <a:pPr algn="l"/>
            <a:r>
              <a:rPr sz="1100" b="1">
                <a:solidFill>
                  <a:srgbClr val="277E63"/>
                </a:solidFill>
                <a:latin typeface="Aptos"/>
              </a:rPr>
              <a:t>THE APPLICATION</a:t>
            </a:r>
          </a:p>
        </p:txBody>
      </p:sp>
      <p:sp>
        <p:nvSpPr>
          <p:cNvPr id="4" name="TextBox 3"/>
          <p:cNvSpPr txBox="1"/>
          <p:nvPr/>
        </p:nvSpPr>
        <p:spPr>
          <a:xfrm>
            <a:off x="502920" y="804672"/>
            <a:ext cx="11064240" cy="640080"/>
          </a:xfrm>
          <a:prstGeom prst="rect">
            <a:avLst/>
          </a:prstGeom>
          <a:noFill/>
        </p:spPr>
        <p:txBody>
          <a:bodyPr wrap="square" lIns="0" rIns="0" tIns="0" bIns="0" anchor="t">
            <a:spAutoFit/>
          </a:bodyPr>
          <a:lstStyle/>
          <a:p>
            <a:pPr algn="l"/>
            <a:r>
              <a:rPr sz="3000" b="1">
                <a:solidFill>
                  <a:srgbClr val="12231F"/>
                </a:solidFill>
                <a:latin typeface="Aptos"/>
              </a:rPr>
              <a:t>A useful app—and a workload for cloud behaviour</a:t>
            </a:r>
          </a:p>
        </p:txBody>
      </p:sp>
      <p:sp>
        <p:nvSpPr>
          <p:cNvPr id="5" name="Rounded Rectangle 4"/>
          <p:cNvSpPr/>
          <p:nvPr/>
        </p:nvSpPr>
        <p:spPr>
          <a:xfrm>
            <a:off x="502920" y="1874519"/>
            <a:ext cx="4617720" cy="416052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12848"/>
            <a:ext cx="3840480" cy="411480"/>
          </a:xfrm>
          <a:prstGeom prst="rect">
            <a:avLst/>
          </a:prstGeom>
          <a:noFill/>
        </p:spPr>
        <p:txBody>
          <a:bodyPr wrap="square" lIns="0" rIns="0" tIns="0" bIns="0" anchor="t">
            <a:spAutoFit/>
          </a:bodyPr>
          <a:lstStyle/>
          <a:p>
            <a:pPr algn="l"/>
            <a:r>
              <a:rPr sz="2000" b="1">
                <a:solidFill>
                  <a:srgbClr val="12231F"/>
                </a:solidFill>
                <a:latin typeface="Aptos"/>
              </a:rPr>
              <a:t>What the user can do</a:t>
            </a:r>
          </a:p>
        </p:txBody>
      </p:sp>
      <p:sp>
        <p:nvSpPr>
          <p:cNvPr id="7" name="TextBox 6"/>
          <p:cNvSpPr txBox="1"/>
          <p:nvPr/>
        </p:nvSpPr>
        <p:spPr>
          <a:xfrm>
            <a:off x="822960" y="2788920"/>
            <a:ext cx="3794760" cy="2468880"/>
          </a:xfrm>
          <a:prstGeom prst="rect">
            <a:avLst/>
          </a:prstGeom>
          <a:noFill/>
        </p:spPr>
        <p:txBody>
          <a:bodyPr wrap="square" lIns="0" rIns="0" tIns="0" bIns="0">
            <a:spAutoFit/>
          </a:bodyPr>
          <a:lstStyle/>
          <a:p>
            <a:pPr>
              <a:lnSpc>
                <a:spcPct val="105000"/>
              </a:lnSpc>
              <a:spcAft>
                <a:spcPts val="1100"/>
              </a:spcAft>
            </a:pPr>
            <a:r>
              <a:rPr sz="1200">
                <a:solidFill>
                  <a:srgbClr val="277E63"/>
                </a:solidFill>
                <a:latin typeface="Aptos"/>
              </a:rPr>
              <a:t>●  </a:t>
            </a:r>
            <a:r>
              <a:rPr sz="1500">
                <a:solidFill>
                  <a:srgbClr val="1C2A26"/>
                </a:solidFill>
                <a:latin typeface="Aptos"/>
              </a:rPr>
              <a:t>Create, edit, complete, filter and delete study tasks</a:t>
            </a:r>
          </a:p>
          <a:p>
            <a:pPr>
              <a:lnSpc>
                <a:spcPct val="105000"/>
              </a:lnSpc>
              <a:spcAft>
                <a:spcPts val="1100"/>
              </a:spcAft>
            </a:pPr>
            <a:r>
              <a:rPr sz="1200">
                <a:solidFill>
                  <a:srgbClr val="277E63"/>
                </a:solidFill>
                <a:latin typeface="Aptos"/>
              </a:rPr>
              <a:t>●  </a:t>
            </a:r>
            <a:r>
              <a:rPr sz="1500">
                <a:solidFill>
                  <a:srgbClr val="1C2A26"/>
                </a:solidFill>
                <a:latin typeface="Aptos"/>
              </a:rPr>
              <a:t>Refresh the browser without losing saved task data</a:t>
            </a:r>
          </a:p>
          <a:p>
            <a:pPr>
              <a:lnSpc>
                <a:spcPct val="105000"/>
              </a:lnSpc>
              <a:spcAft>
                <a:spcPts val="1100"/>
              </a:spcAft>
            </a:pPr>
            <a:r>
              <a:rPr sz="1200">
                <a:solidFill>
                  <a:srgbClr val="277E63"/>
                </a:solidFill>
                <a:latin typeface="Aptos"/>
              </a:rPr>
              <a:t>●  </a:t>
            </a:r>
            <a:r>
              <a:rPr sz="1500">
                <a:solidFill>
                  <a:srgbClr val="1C2A26"/>
                </a:solidFill>
                <a:latin typeface="Aptos"/>
              </a:rPr>
              <a:t>Use the same Spring Boot service for the UI and REST API</a:t>
            </a:r>
          </a:p>
          <a:p>
            <a:pPr>
              <a:lnSpc>
                <a:spcPct val="105000"/>
              </a:lnSpc>
              <a:spcAft>
                <a:spcPts val="1100"/>
              </a:spcAft>
            </a:pPr>
            <a:r>
              <a:rPr sz="1200">
                <a:solidFill>
                  <a:srgbClr val="277E63"/>
                </a:solidFill>
                <a:latin typeface="Aptos"/>
              </a:rPr>
              <a:t>●  </a:t>
            </a:r>
            <a:r>
              <a:rPr sz="1500">
                <a:solidFill>
                  <a:srgbClr val="1C2A26"/>
                </a:solidFill>
                <a:latin typeface="Aptos"/>
              </a:rPr>
              <a:t>Persist every task in a private MySQL database</a:t>
            </a:r>
          </a:p>
        </p:txBody>
      </p:sp>
      <p:sp>
        <p:nvSpPr>
          <p:cNvPr id="8" name="Rounded Rectangle 7"/>
          <p:cNvSpPr/>
          <p:nvPr/>
        </p:nvSpPr>
        <p:spPr>
          <a:xfrm>
            <a:off x="822960" y="5422392"/>
            <a:ext cx="1417320" cy="347472"/>
          </a:xfrm>
          <a:prstGeom prst="roundRect">
            <a:avLst/>
          </a:prstGeom>
          <a:solidFill>
            <a:srgbClr val="EBF7F2"/>
          </a:solidFill>
          <a:ln>
            <a:solidFill>
              <a:srgbClr val="EB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436108"/>
            <a:ext cx="1417320" cy="274320"/>
          </a:xfrm>
          <a:prstGeom prst="rect">
            <a:avLst/>
          </a:prstGeom>
          <a:noFill/>
        </p:spPr>
        <p:txBody>
          <a:bodyPr wrap="square" lIns="0" rIns="0" tIns="0" bIns="0" anchor="ctr">
            <a:spAutoFit/>
          </a:bodyPr>
          <a:lstStyle/>
          <a:p>
            <a:pPr algn="ctr"/>
            <a:r>
              <a:rPr sz="1000" b="1">
                <a:solidFill>
                  <a:srgbClr val="277E63"/>
                </a:solidFill>
                <a:latin typeface="Aptos"/>
              </a:rPr>
              <a:t>STATELESS API</a:t>
            </a:r>
          </a:p>
        </p:txBody>
      </p:sp>
      <p:sp>
        <p:nvSpPr>
          <p:cNvPr id="10" name="Rounded Rectangle 9"/>
          <p:cNvSpPr/>
          <p:nvPr/>
        </p:nvSpPr>
        <p:spPr>
          <a:xfrm>
            <a:off x="2377440" y="5422392"/>
            <a:ext cx="1645920" cy="347472"/>
          </a:xfrm>
          <a:prstGeom prst="roundRect">
            <a:avLst/>
          </a:prstGeom>
          <a:solidFill>
            <a:srgbClr val="ECF0FB"/>
          </a:solidFill>
          <a:ln>
            <a:solidFill>
              <a:srgbClr val="ECF0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0" y="5436108"/>
            <a:ext cx="1645920" cy="274320"/>
          </a:xfrm>
          <a:prstGeom prst="rect">
            <a:avLst/>
          </a:prstGeom>
          <a:noFill/>
        </p:spPr>
        <p:txBody>
          <a:bodyPr wrap="square" lIns="0" rIns="0" tIns="0" bIns="0" anchor="ctr">
            <a:spAutoFit/>
          </a:bodyPr>
          <a:lstStyle/>
          <a:p>
            <a:pPr algn="ctr"/>
            <a:r>
              <a:rPr sz="1000" b="1">
                <a:solidFill>
                  <a:srgbClr val="4864B6"/>
                </a:solidFill>
                <a:latin typeface="Aptos"/>
              </a:rPr>
              <a:t>PERSISTENT DATA</a:t>
            </a:r>
          </a:p>
        </p:txBody>
      </p:sp>
      <p:sp>
        <p:nvSpPr>
          <p:cNvPr id="12" name="Rounded Rectangle 11"/>
          <p:cNvSpPr/>
          <p:nvPr/>
        </p:nvSpPr>
        <p:spPr>
          <a:xfrm>
            <a:off x="5394960" y="1874519"/>
            <a:ext cx="6263640" cy="416052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tudent-task-manager-ui.png"/>
          <p:cNvPicPr>
            <a:picLocks noChangeAspect="1"/>
          </p:cNvPicPr>
          <p:nvPr/>
        </p:nvPicPr>
        <p:blipFill>
          <a:blip r:embed="rId2"/>
          <a:stretch>
            <a:fillRect/>
          </a:stretch>
        </p:blipFill>
        <p:spPr>
          <a:xfrm>
            <a:off x="5596128" y="2075688"/>
            <a:ext cx="5852160" cy="3639312"/>
          </a:xfrm>
          <a:prstGeom prst="rect">
            <a:avLst/>
          </a:prstGeom>
        </p:spPr>
      </p:pic>
      <p:sp>
        <p:nvSpPr>
          <p:cNvPr id="14" name="TextBox 13"/>
          <p:cNvSpPr txBox="1"/>
          <p:nvPr/>
        </p:nvSpPr>
        <p:spPr>
          <a:xfrm>
            <a:off x="5623560" y="5751576"/>
            <a:ext cx="3931920" cy="201168"/>
          </a:xfrm>
          <a:prstGeom prst="rect">
            <a:avLst/>
          </a:prstGeom>
          <a:noFill/>
        </p:spPr>
        <p:txBody>
          <a:bodyPr wrap="square" lIns="0" rIns="0" tIns="0" bIns="0" anchor="t">
            <a:spAutoFit/>
          </a:bodyPr>
          <a:lstStyle/>
          <a:p>
            <a:pPr algn="l"/>
            <a:r>
              <a:rPr sz="900" b="1">
                <a:solidFill>
                  <a:srgbClr val="66746F"/>
                </a:solidFill>
                <a:latin typeface="Aptos"/>
              </a:rPr>
              <a:t>Live StudySpace browser dashboard</a:t>
            </a:r>
          </a:p>
        </p:txBody>
      </p:sp>
      <p:sp>
        <p:nvSpPr>
          <p:cNvPr id="15" name="TextBox 14"/>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66746F"/>
                </a:solidFill>
                <a:latin typeface="Aptos"/>
              </a:rPr>
              <a:t>STUDENT TASK MANAGER  •  CLOUD COMPUTING MINI PROJECT</a:t>
            </a:r>
          </a:p>
        </p:txBody>
      </p:sp>
      <p:sp>
        <p:nvSpPr>
          <p:cNvPr id="16" name="TextBox 15"/>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66746F"/>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B18"/>
        </a:solidFill>
        <a:effectLst/>
      </p:bgPr>
    </p:bg>
    <p:spTree>
      <p:nvGrpSpPr>
        <p:cNvPr id="1" name=""/>
        <p:cNvGrpSpPr/>
        <p:nvPr/>
      </p:nvGrpSpPr>
      <p:grpSpPr/>
      <p:sp>
        <p:nvSpPr>
          <p:cNvPr id="2" name="TextBox 1"/>
          <p:cNvSpPr txBox="1"/>
          <p:nvPr/>
        </p:nvSpPr>
        <p:spPr>
          <a:xfrm>
            <a:off x="502920" y="393192"/>
            <a:ext cx="502920" cy="320040"/>
          </a:xfrm>
          <a:prstGeom prst="rect">
            <a:avLst/>
          </a:prstGeom>
          <a:noFill/>
        </p:spPr>
        <p:txBody>
          <a:bodyPr wrap="square" lIns="0" rIns="0" tIns="0" bIns="0" anchor="t">
            <a:spAutoFit/>
          </a:bodyPr>
          <a:lstStyle/>
          <a:p>
            <a:pPr algn="l"/>
            <a:r>
              <a:rPr sz="1100" b="1">
                <a:solidFill>
                  <a:srgbClr val="BCECDD"/>
                </a:solidFill>
                <a:latin typeface="Aptos"/>
              </a:rPr>
              <a:t>03</a:t>
            </a:r>
          </a:p>
        </p:txBody>
      </p:sp>
      <p:sp>
        <p:nvSpPr>
          <p:cNvPr id="3" name="TextBox 2"/>
          <p:cNvSpPr txBox="1"/>
          <p:nvPr/>
        </p:nvSpPr>
        <p:spPr>
          <a:xfrm>
            <a:off x="987552" y="393192"/>
            <a:ext cx="4389120" cy="320040"/>
          </a:xfrm>
          <a:prstGeom prst="rect">
            <a:avLst/>
          </a:prstGeom>
          <a:noFill/>
        </p:spPr>
        <p:txBody>
          <a:bodyPr wrap="square" lIns="0" rIns="0" tIns="0" bIns="0" anchor="t">
            <a:spAutoFit/>
          </a:bodyPr>
          <a:lstStyle/>
          <a:p>
            <a:pPr algn="l"/>
            <a:r>
              <a:rPr sz="1100" b="1">
                <a:solidFill>
                  <a:srgbClr val="BCECDD"/>
                </a:solidFill>
                <a:latin typeface="Aptos"/>
              </a:rPr>
              <a:t>ARCHITECTURE</a:t>
            </a:r>
          </a:p>
        </p:txBody>
      </p:sp>
      <p:sp>
        <p:nvSpPr>
          <p:cNvPr id="4" name="TextBox 3"/>
          <p:cNvSpPr txBox="1"/>
          <p:nvPr/>
        </p:nvSpPr>
        <p:spPr>
          <a:xfrm>
            <a:off x="502920" y="804672"/>
            <a:ext cx="11064240" cy="640080"/>
          </a:xfrm>
          <a:prstGeom prst="rect">
            <a:avLst/>
          </a:prstGeom>
          <a:noFill/>
        </p:spPr>
        <p:txBody>
          <a:bodyPr wrap="square" lIns="0" rIns="0" tIns="0" bIns="0" anchor="t">
            <a:spAutoFit/>
          </a:bodyPr>
          <a:lstStyle/>
          <a:p>
            <a:pPr algn="l"/>
            <a:r>
              <a:rPr sz="3000" b="1">
                <a:solidFill>
                  <a:srgbClr val="FFFFFF"/>
                </a:solidFill>
                <a:latin typeface="Aptos"/>
              </a:rPr>
              <a:t>One request path, one monitoring path</a:t>
            </a:r>
          </a:p>
        </p:txBody>
      </p:sp>
      <p:sp>
        <p:nvSpPr>
          <p:cNvPr id="5" name="TextBox 4"/>
          <p:cNvSpPr txBox="1"/>
          <p:nvPr/>
        </p:nvSpPr>
        <p:spPr>
          <a:xfrm>
            <a:off x="530352" y="1417320"/>
            <a:ext cx="10789920" cy="411480"/>
          </a:xfrm>
          <a:prstGeom prst="rect">
            <a:avLst/>
          </a:prstGeom>
          <a:noFill/>
        </p:spPr>
        <p:txBody>
          <a:bodyPr wrap="square" lIns="0" rIns="0" tIns="0" bIns="0" anchor="t">
            <a:spAutoFit/>
          </a:bodyPr>
          <a:lstStyle/>
          <a:p>
            <a:pPr algn="l"/>
            <a:r>
              <a:rPr sz="1400" b="0">
                <a:solidFill>
                  <a:srgbClr val="BCECDD"/>
                </a:solidFill>
                <a:latin typeface="Aptos"/>
              </a:rPr>
              <a:t>The database is private; only the browser-facing demo ports are exposed.</a:t>
            </a:r>
          </a:p>
        </p:txBody>
      </p:sp>
      <p:sp>
        <p:nvSpPr>
          <p:cNvPr id="6" name="Rounded Rectangle 5"/>
          <p:cNvSpPr/>
          <p:nvPr/>
        </p:nvSpPr>
        <p:spPr>
          <a:xfrm>
            <a:off x="502920" y="2148840"/>
            <a:ext cx="2359152" cy="1353312"/>
          </a:xfrm>
          <a:prstGeom prst="roundRect">
            <a:avLst/>
          </a:prstGeom>
          <a:solidFill>
            <a:srgbClr val="FFFFFF"/>
          </a:solidFill>
          <a:ln>
            <a:solidFill>
              <a:srgbClr val="395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148840"/>
            <a:ext cx="2359152" cy="109728"/>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2450592"/>
            <a:ext cx="1938528" cy="292608"/>
          </a:xfrm>
          <a:prstGeom prst="rect">
            <a:avLst/>
          </a:prstGeom>
          <a:noFill/>
        </p:spPr>
        <p:txBody>
          <a:bodyPr wrap="square" lIns="0" rIns="0" tIns="0" bIns="0" anchor="t">
            <a:spAutoFit/>
          </a:bodyPr>
          <a:lstStyle/>
          <a:p>
            <a:pPr algn="l"/>
            <a:r>
              <a:rPr sz="1300" b="1">
                <a:solidFill>
                  <a:srgbClr val="277E63"/>
                </a:solidFill>
                <a:latin typeface="Aptos"/>
              </a:rPr>
              <a:t>BROWSER</a:t>
            </a:r>
          </a:p>
        </p:txBody>
      </p:sp>
      <p:sp>
        <p:nvSpPr>
          <p:cNvPr id="9" name="TextBox 8"/>
          <p:cNvSpPr txBox="1"/>
          <p:nvPr/>
        </p:nvSpPr>
        <p:spPr>
          <a:xfrm>
            <a:off x="704088" y="2852928"/>
            <a:ext cx="1938528" cy="292608"/>
          </a:xfrm>
          <a:prstGeom prst="rect">
            <a:avLst/>
          </a:prstGeom>
          <a:noFill/>
        </p:spPr>
        <p:txBody>
          <a:bodyPr wrap="square" lIns="0" rIns="0" tIns="0" bIns="0" anchor="t">
            <a:spAutoFit/>
          </a:bodyPr>
          <a:lstStyle/>
          <a:p>
            <a:pPr algn="l"/>
            <a:r>
              <a:rPr sz="1500" b="1">
                <a:solidFill>
                  <a:srgbClr val="12231F"/>
                </a:solidFill>
                <a:latin typeface="Aptos"/>
              </a:rPr>
              <a:t>StudySpace UI</a:t>
            </a:r>
          </a:p>
        </p:txBody>
      </p:sp>
      <p:sp>
        <p:nvSpPr>
          <p:cNvPr id="10" name="Chevron 9"/>
          <p:cNvSpPr/>
          <p:nvPr/>
        </p:nvSpPr>
        <p:spPr>
          <a:xfrm>
            <a:off x="2944368" y="2578608"/>
            <a:ext cx="384048" cy="438912"/>
          </a:xfrm>
          <a:prstGeom prst="chevron">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2148840"/>
            <a:ext cx="2359152" cy="1353312"/>
          </a:xfrm>
          <a:prstGeom prst="roundRect">
            <a:avLst/>
          </a:prstGeom>
          <a:solidFill>
            <a:srgbClr val="FFFFFF"/>
          </a:solidFill>
          <a:ln>
            <a:solidFill>
              <a:srgbClr val="395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2148840"/>
            <a:ext cx="2359152" cy="109728"/>
          </a:xfrm>
          <a:prstGeom prst="rect">
            <a:avLst/>
          </a:prstGeom>
          <a:solidFill>
            <a:srgbClr val="4864B6"/>
          </a:solidFill>
          <a:ln>
            <a:solidFill>
              <a:srgbClr val="486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2450592"/>
            <a:ext cx="1938528" cy="292608"/>
          </a:xfrm>
          <a:prstGeom prst="rect">
            <a:avLst/>
          </a:prstGeom>
          <a:noFill/>
        </p:spPr>
        <p:txBody>
          <a:bodyPr wrap="square" lIns="0" rIns="0" tIns="0" bIns="0" anchor="t">
            <a:spAutoFit/>
          </a:bodyPr>
          <a:lstStyle/>
          <a:p>
            <a:pPr algn="l"/>
            <a:r>
              <a:rPr sz="1300" b="1">
                <a:solidFill>
                  <a:srgbClr val="4864B6"/>
                </a:solidFill>
                <a:latin typeface="Aptos"/>
              </a:rPr>
              <a:t>K3S SERVICE</a:t>
            </a:r>
          </a:p>
        </p:txBody>
      </p:sp>
      <p:sp>
        <p:nvSpPr>
          <p:cNvPr id="14" name="TextBox 13"/>
          <p:cNvSpPr txBox="1"/>
          <p:nvPr/>
        </p:nvSpPr>
        <p:spPr>
          <a:xfrm>
            <a:off x="3630168" y="2852928"/>
            <a:ext cx="1938528" cy="292608"/>
          </a:xfrm>
          <a:prstGeom prst="rect">
            <a:avLst/>
          </a:prstGeom>
          <a:noFill/>
        </p:spPr>
        <p:txBody>
          <a:bodyPr wrap="square" lIns="0" rIns="0" tIns="0" bIns="0" anchor="t">
            <a:spAutoFit/>
          </a:bodyPr>
          <a:lstStyle/>
          <a:p>
            <a:pPr algn="l"/>
            <a:r>
              <a:rPr sz="1500" b="1">
                <a:solidFill>
                  <a:srgbClr val="12231F"/>
                </a:solidFill>
                <a:latin typeface="Aptos"/>
              </a:rPr>
              <a:t>NodePort 30080</a:t>
            </a:r>
          </a:p>
        </p:txBody>
      </p:sp>
      <p:sp>
        <p:nvSpPr>
          <p:cNvPr id="15" name="Chevron 14"/>
          <p:cNvSpPr/>
          <p:nvPr/>
        </p:nvSpPr>
        <p:spPr>
          <a:xfrm>
            <a:off x="5870448" y="2578608"/>
            <a:ext cx="384048" cy="438912"/>
          </a:xfrm>
          <a:prstGeom prst="chevron">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2148840"/>
            <a:ext cx="2359152" cy="1353312"/>
          </a:xfrm>
          <a:prstGeom prst="roundRect">
            <a:avLst/>
          </a:prstGeom>
          <a:solidFill>
            <a:srgbClr val="FFFFFF"/>
          </a:solidFill>
          <a:ln>
            <a:solidFill>
              <a:srgbClr val="395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148840"/>
            <a:ext cx="2359152" cy="109728"/>
          </a:xfrm>
          <a:prstGeom prst="rect">
            <a:avLst/>
          </a:prstGeom>
          <a:solidFill>
            <a:srgbClr val="DC972C"/>
          </a:solidFill>
          <a:ln>
            <a:solidFill>
              <a:srgbClr val="DC9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2450592"/>
            <a:ext cx="1938528" cy="292608"/>
          </a:xfrm>
          <a:prstGeom prst="rect">
            <a:avLst/>
          </a:prstGeom>
          <a:noFill/>
        </p:spPr>
        <p:txBody>
          <a:bodyPr wrap="square" lIns="0" rIns="0" tIns="0" bIns="0" anchor="t">
            <a:spAutoFit/>
          </a:bodyPr>
          <a:lstStyle/>
          <a:p>
            <a:pPr algn="l"/>
            <a:r>
              <a:rPr sz="1300" b="1">
                <a:solidFill>
                  <a:srgbClr val="DC972C"/>
                </a:solidFill>
                <a:latin typeface="Aptos"/>
              </a:rPr>
              <a:t>SPRING BOOT</a:t>
            </a:r>
          </a:p>
        </p:txBody>
      </p:sp>
      <p:sp>
        <p:nvSpPr>
          <p:cNvPr id="19" name="TextBox 18"/>
          <p:cNvSpPr txBox="1"/>
          <p:nvPr/>
        </p:nvSpPr>
        <p:spPr>
          <a:xfrm>
            <a:off x="6556248" y="2852928"/>
            <a:ext cx="1938528" cy="292608"/>
          </a:xfrm>
          <a:prstGeom prst="rect">
            <a:avLst/>
          </a:prstGeom>
          <a:noFill/>
        </p:spPr>
        <p:txBody>
          <a:bodyPr wrap="square" lIns="0" rIns="0" tIns="0" bIns="0" anchor="t">
            <a:spAutoFit/>
          </a:bodyPr>
          <a:lstStyle/>
          <a:p>
            <a:pPr algn="l"/>
            <a:r>
              <a:rPr sz="1500" b="1">
                <a:solidFill>
                  <a:srgbClr val="12231F"/>
                </a:solidFill>
                <a:latin typeface="Aptos"/>
              </a:rPr>
              <a:t>1–2 API pods</a:t>
            </a:r>
          </a:p>
        </p:txBody>
      </p:sp>
      <p:sp>
        <p:nvSpPr>
          <p:cNvPr id="20" name="Chevron 19"/>
          <p:cNvSpPr/>
          <p:nvPr/>
        </p:nvSpPr>
        <p:spPr>
          <a:xfrm>
            <a:off x="8796528" y="2578608"/>
            <a:ext cx="384048" cy="438912"/>
          </a:xfrm>
          <a:prstGeom prst="chevron">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81160" y="2148840"/>
            <a:ext cx="2359152" cy="1353312"/>
          </a:xfrm>
          <a:prstGeom prst="roundRect">
            <a:avLst/>
          </a:prstGeom>
          <a:solidFill>
            <a:srgbClr val="FFFFFF"/>
          </a:solidFill>
          <a:ln>
            <a:solidFill>
              <a:srgbClr val="3950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81160" y="2148840"/>
            <a:ext cx="2359152" cy="109728"/>
          </a:xfrm>
          <a:prstGeom prst="rect">
            <a:avLst/>
          </a:prstGeom>
          <a:solidFill>
            <a:srgbClr val="B74238"/>
          </a:solidFill>
          <a:ln>
            <a:solidFill>
              <a:srgbClr val="B742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82328" y="2450592"/>
            <a:ext cx="1938528" cy="292608"/>
          </a:xfrm>
          <a:prstGeom prst="rect">
            <a:avLst/>
          </a:prstGeom>
          <a:noFill/>
        </p:spPr>
        <p:txBody>
          <a:bodyPr wrap="square" lIns="0" rIns="0" tIns="0" bIns="0" anchor="t">
            <a:spAutoFit/>
          </a:bodyPr>
          <a:lstStyle/>
          <a:p>
            <a:pPr algn="l"/>
            <a:r>
              <a:rPr sz="1300" b="1">
                <a:solidFill>
                  <a:srgbClr val="B74238"/>
                </a:solidFill>
                <a:latin typeface="Aptos"/>
              </a:rPr>
              <a:t>RDS MYSQL</a:t>
            </a:r>
          </a:p>
        </p:txBody>
      </p:sp>
      <p:sp>
        <p:nvSpPr>
          <p:cNvPr id="24" name="TextBox 23"/>
          <p:cNvSpPr txBox="1"/>
          <p:nvPr/>
        </p:nvSpPr>
        <p:spPr>
          <a:xfrm>
            <a:off x="9482328" y="2852928"/>
            <a:ext cx="1938528" cy="292608"/>
          </a:xfrm>
          <a:prstGeom prst="rect">
            <a:avLst/>
          </a:prstGeom>
          <a:noFill/>
        </p:spPr>
        <p:txBody>
          <a:bodyPr wrap="square" lIns="0" rIns="0" tIns="0" bIns="0" anchor="t">
            <a:spAutoFit/>
          </a:bodyPr>
          <a:lstStyle/>
          <a:p>
            <a:pPr algn="l"/>
            <a:r>
              <a:rPr sz="1500" b="1">
                <a:solidFill>
                  <a:srgbClr val="12231F"/>
                </a:solidFill>
                <a:latin typeface="Aptos"/>
              </a:rPr>
              <a:t>Private subnets</a:t>
            </a:r>
          </a:p>
        </p:txBody>
      </p:sp>
      <p:sp>
        <p:nvSpPr>
          <p:cNvPr id="25" name="TextBox 24"/>
          <p:cNvSpPr txBox="1"/>
          <p:nvPr/>
        </p:nvSpPr>
        <p:spPr>
          <a:xfrm>
            <a:off x="530352" y="3794760"/>
            <a:ext cx="2103120" cy="274320"/>
          </a:xfrm>
          <a:prstGeom prst="rect">
            <a:avLst/>
          </a:prstGeom>
          <a:noFill/>
        </p:spPr>
        <p:txBody>
          <a:bodyPr wrap="square" lIns="0" rIns="0" tIns="0" bIns="0" anchor="t">
            <a:spAutoFit/>
          </a:bodyPr>
          <a:lstStyle/>
          <a:p>
            <a:pPr algn="l"/>
            <a:r>
              <a:rPr sz="1000" b="1">
                <a:solidFill>
                  <a:srgbClr val="BCECDD"/>
                </a:solidFill>
                <a:latin typeface="Aptos"/>
              </a:rPr>
              <a:t>REQUEST + DATA PATH</a:t>
            </a:r>
          </a:p>
        </p:txBody>
      </p:sp>
      <p:sp>
        <p:nvSpPr>
          <p:cNvPr id="26" name="Rounded Rectangle 25"/>
          <p:cNvSpPr/>
          <p:nvPr/>
        </p:nvSpPr>
        <p:spPr>
          <a:xfrm>
            <a:off x="502920" y="4160520"/>
            <a:ext cx="7223760" cy="141732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434840"/>
            <a:ext cx="2011680" cy="274320"/>
          </a:xfrm>
          <a:prstGeom prst="rect">
            <a:avLst/>
          </a:prstGeom>
          <a:noFill/>
        </p:spPr>
        <p:txBody>
          <a:bodyPr wrap="square" lIns="0" rIns="0" tIns="0" bIns="0" anchor="t">
            <a:spAutoFit/>
          </a:bodyPr>
          <a:lstStyle/>
          <a:p>
            <a:pPr algn="l"/>
            <a:r>
              <a:rPr sz="1300" b="1">
                <a:solidFill>
                  <a:srgbClr val="BCECDD"/>
                </a:solidFill>
                <a:latin typeface="Aptos"/>
              </a:rPr>
              <a:t>Infrastructure delivery</a:t>
            </a:r>
          </a:p>
        </p:txBody>
      </p:sp>
      <p:sp>
        <p:nvSpPr>
          <p:cNvPr id="28" name="TextBox 27"/>
          <p:cNvSpPr txBox="1"/>
          <p:nvPr/>
        </p:nvSpPr>
        <p:spPr>
          <a:xfrm>
            <a:off x="777240" y="4828032"/>
            <a:ext cx="1371600" cy="274320"/>
          </a:xfrm>
          <a:prstGeom prst="rect">
            <a:avLst/>
          </a:prstGeom>
          <a:noFill/>
        </p:spPr>
        <p:txBody>
          <a:bodyPr wrap="square" lIns="0" rIns="0" tIns="0" bIns="0" anchor="t">
            <a:spAutoFit/>
          </a:bodyPr>
          <a:lstStyle/>
          <a:p>
            <a:pPr algn="l"/>
            <a:r>
              <a:rPr sz="1600" b="1">
                <a:solidFill>
                  <a:srgbClr val="FFFFFF"/>
                </a:solidFill>
                <a:latin typeface="Aptos"/>
              </a:rPr>
              <a:t>Terraform</a:t>
            </a:r>
          </a:p>
        </p:txBody>
      </p:sp>
      <p:sp>
        <p:nvSpPr>
          <p:cNvPr id="29" name="TextBox 28"/>
          <p:cNvSpPr txBox="1"/>
          <p:nvPr/>
        </p:nvSpPr>
        <p:spPr>
          <a:xfrm>
            <a:off x="2286000" y="4837176"/>
            <a:ext cx="4389120" cy="274320"/>
          </a:xfrm>
          <a:prstGeom prst="rect">
            <a:avLst/>
          </a:prstGeom>
          <a:noFill/>
        </p:spPr>
        <p:txBody>
          <a:bodyPr wrap="square" lIns="0" rIns="0" tIns="0" bIns="0" anchor="t">
            <a:spAutoFit/>
          </a:bodyPr>
          <a:lstStyle/>
          <a:p>
            <a:pPr algn="l"/>
            <a:r>
              <a:rPr sz="1400" b="1">
                <a:solidFill>
                  <a:srgbClr val="C3D5CE"/>
                </a:solidFill>
                <a:latin typeface="Aptos"/>
              </a:rPr>
              <a:t>VPC  •  EC2  •  RDS  •  ECR  •  IAM</a:t>
            </a:r>
          </a:p>
        </p:txBody>
      </p:sp>
      <p:sp>
        <p:nvSpPr>
          <p:cNvPr id="30" name="Rounded Rectangle 29"/>
          <p:cNvSpPr/>
          <p:nvPr/>
        </p:nvSpPr>
        <p:spPr>
          <a:xfrm>
            <a:off x="8001000" y="4160520"/>
            <a:ext cx="3657600" cy="141732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4434840"/>
            <a:ext cx="1554480" cy="274320"/>
          </a:xfrm>
          <a:prstGeom prst="rect">
            <a:avLst/>
          </a:prstGeom>
          <a:noFill/>
        </p:spPr>
        <p:txBody>
          <a:bodyPr wrap="square" lIns="0" rIns="0" tIns="0" bIns="0" anchor="t">
            <a:spAutoFit/>
          </a:bodyPr>
          <a:lstStyle/>
          <a:p>
            <a:pPr algn="l"/>
            <a:r>
              <a:rPr sz="1300" b="1">
                <a:solidFill>
                  <a:srgbClr val="BCECDD"/>
                </a:solidFill>
                <a:latin typeface="Aptos"/>
              </a:rPr>
              <a:t>Observability</a:t>
            </a:r>
          </a:p>
        </p:txBody>
      </p:sp>
      <p:sp>
        <p:nvSpPr>
          <p:cNvPr id="32" name="TextBox 31"/>
          <p:cNvSpPr txBox="1"/>
          <p:nvPr/>
        </p:nvSpPr>
        <p:spPr>
          <a:xfrm>
            <a:off x="8275320" y="4837176"/>
            <a:ext cx="2926080" cy="274320"/>
          </a:xfrm>
          <a:prstGeom prst="rect">
            <a:avLst/>
          </a:prstGeom>
          <a:noFill/>
        </p:spPr>
        <p:txBody>
          <a:bodyPr wrap="square" lIns="0" rIns="0" tIns="0" bIns="0" anchor="t">
            <a:spAutoFit/>
          </a:bodyPr>
          <a:lstStyle/>
          <a:p>
            <a:pPr algn="l"/>
            <a:r>
              <a:rPr sz="1600" b="1">
                <a:solidFill>
                  <a:srgbClr val="FFFFFF"/>
                </a:solidFill>
                <a:latin typeface="Aptos"/>
              </a:rPr>
              <a:t>Prometheus  →  Grafana</a:t>
            </a:r>
          </a:p>
        </p:txBody>
      </p:sp>
      <p:sp>
        <p:nvSpPr>
          <p:cNvPr id="33" name="TextBox 32"/>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91A79E"/>
                </a:solidFill>
                <a:latin typeface="Aptos"/>
              </a:rPr>
              <a:t>STUDENT TASK MANAGER  •  CLOUD COMPUTING MINI PROJECT</a:t>
            </a:r>
          </a:p>
        </p:txBody>
      </p:sp>
      <p:sp>
        <p:nvSpPr>
          <p:cNvPr id="34" name="TextBox 33"/>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91A79E"/>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TextBox 1"/>
          <p:cNvSpPr txBox="1"/>
          <p:nvPr/>
        </p:nvSpPr>
        <p:spPr>
          <a:xfrm>
            <a:off x="502920" y="393192"/>
            <a:ext cx="502920" cy="320040"/>
          </a:xfrm>
          <a:prstGeom prst="rect">
            <a:avLst/>
          </a:prstGeom>
          <a:noFill/>
        </p:spPr>
        <p:txBody>
          <a:bodyPr wrap="square" lIns="0" rIns="0" tIns="0" bIns="0" anchor="t">
            <a:spAutoFit/>
          </a:bodyPr>
          <a:lstStyle/>
          <a:p>
            <a:pPr algn="l"/>
            <a:r>
              <a:rPr sz="1100" b="1">
                <a:solidFill>
                  <a:srgbClr val="277E63"/>
                </a:solidFill>
                <a:latin typeface="Aptos"/>
              </a:rPr>
              <a:t>04</a:t>
            </a:r>
          </a:p>
        </p:txBody>
      </p:sp>
      <p:sp>
        <p:nvSpPr>
          <p:cNvPr id="3" name="TextBox 2"/>
          <p:cNvSpPr txBox="1"/>
          <p:nvPr/>
        </p:nvSpPr>
        <p:spPr>
          <a:xfrm>
            <a:off x="987552" y="393192"/>
            <a:ext cx="4389120" cy="320040"/>
          </a:xfrm>
          <a:prstGeom prst="rect">
            <a:avLst/>
          </a:prstGeom>
          <a:noFill/>
        </p:spPr>
        <p:txBody>
          <a:bodyPr wrap="square" lIns="0" rIns="0" tIns="0" bIns="0" anchor="t">
            <a:spAutoFit/>
          </a:bodyPr>
          <a:lstStyle/>
          <a:p>
            <a:pPr algn="l"/>
            <a:r>
              <a:rPr sz="1100" b="1">
                <a:solidFill>
                  <a:srgbClr val="277E63"/>
                </a:solidFill>
                <a:latin typeface="Aptos"/>
              </a:rPr>
              <a:t>IMPLEMENTATION</a:t>
            </a:r>
          </a:p>
        </p:txBody>
      </p:sp>
      <p:sp>
        <p:nvSpPr>
          <p:cNvPr id="4" name="TextBox 3"/>
          <p:cNvSpPr txBox="1"/>
          <p:nvPr/>
        </p:nvSpPr>
        <p:spPr>
          <a:xfrm>
            <a:off x="502920" y="804672"/>
            <a:ext cx="11064240" cy="640080"/>
          </a:xfrm>
          <a:prstGeom prst="rect">
            <a:avLst/>
          </a:prstGeom>
          <a:noFill/>
        </p:spPr>
        <p:txBody>
          <a:bodyPr wrap="square" lIns="0" rIns="0" tIns="0" bIns="0" anchor="t">
            <a:spAutoFit/>
          </a:bodyPr>
          <a:lstStyle/>
          <a:p>
            <a:pPr algn="l"/>
            <a:r>
              <a:rPr sz="3000" b="1">
                <a:solidFill>
                  <a:srgbClr val="12231F"/>
                </a:solidFill>
                <a:latin typeface="Aptos"/>
              </a:rPr>
              <a:t>How each technology contributes</a:t>
            </a:r>
          </a:p>
        </p:txBody>
      </p:sp>
      <p:sp>
        <p:nvSpPr>
          <p:cNvPr id="5" name="Rounded Rectangle 4"/>
          <p:cNvSpPr/>
          <p:nvPr/>
        </p:nvSpPr>
        <p:spPr>
          <a:xfrm>
            <a:off x="502920" y="1874519"/>
            <a:ext cx="3246120" cy="160020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12263"/>
            <a:ext cx="420624" cy="420624"/>
          </a:xfrm>
          <a:prstGeom prst="roundRect">
            <a:avLst/>
          </a:prstGeom>
          <a:solidFill>
            <a:srgbClr val="EBF7F2"/>
          </a:solidFill>
          <a:ln>
            <a:solidFill>
              <a:srgbClr val="EB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57984"/>
            <a:ext cx="420624" cy="228600"/>
          </a:xfrm>
          <a:prstGeom prst="rect">
            <a:avLst/>
          </a:prstGeom>
          <a:noFill/>
        </p:spPr>
        <p:txBody>
          <a:bodyPr wrap="square" lIns="0" rIns="0" tIns="0" bIns="0" anchor="t">
            <a:spAutoFit/>
          </a:bodyPr>
          <a:lstStyle/>
          <a:p>
            <a:pPr algn="ctr"/>
            <a:r>
              <a:rPr sz="1100" b="1">
                <a:solidFill>
                  <a:srgbClr val="277E63"/>
                </a:solidFill>
                <a:latin typeface="Aptos"/>
              </a:rPr>
              <a:t>1</a:t>
            </a:r>
          </a:p>
        </p:txBody>
      </p:sp>
      <p:sp>
        <p:nvSpPr>
          <p:cNvPr id="8" name="TextBox 7"/>
          <p:cNvSpPr txBox="1"/>
          <p:nvPr/>
        </p:nvSpPr>
        <p:spPr>
          <a:xfrm>
            <a:off x="1307592" y="2093976"/>
            <a:ext cx="2103120" cy="320040"/>
          </a:xfrm>
          <a:prstGeom prst="rect">
            <a:avLst/>
          </a:prstGeom>
          <a:noFill/>
        </p:spPr>
        <p:txBody>
          <a:bodyPr wrap="square" lIns="0" rIns="0" tIns="0" bIns="0" anchor="t">
            <a:spAutoFit/>
          </a:bodyPr>
          <a:lstStyle/>
          <a:p>
            <a:pPr algn="l"/>
            <a:r>
              <a:rPr sz="1700" b="1">
                <a:solidFill>
                  <a:srgbClr val="12231F"/>
                </a:solidFill>
                <a:latin typeface="Aptos"/>
              </a:rPr>
              <a:t>Docker</a:t>
            </a:r>
          </a:p>
        </p:txBody>
      </p:sp>
      <p:sp>
        <p:nvSpPr>
          <p:cNvPr id="9" name="TextBox 8"/>
          <p:cNvSpPr txBox="1"/>
          <p:nvPr/>
        </p:nvSpPr>
        <p:spPr>
          <a:xfrm>
            <a:off x="758952" y="2679191"/>
            <a:ext cx="2724912" cy="530352"/>
          </a:xfrm>
          <a:prstGeom prst="rect">
            <a:avLst/>
          </a:prstGeom>
          <a:noFill/>
        </p:spPr>
        <p:txBody>
          <a:bodyPr wrap="square" lIns="0" rIns="0" tIns="0" bIns="0" anchor="t">
            <a:spAutoFit/>
          </a:bodyPr>
          <a:lstStyle/>
          <a:p>
            <a:pPr algn="l"/>
            <a:r>
              <a:rPr sz="1300" b="0">
                <a:solidFill>
                  <a:srgbClr val="66746F"/>
                </a:solidFill>
                <a:latin typeface="Aptos"/>
              </a:rPr>
              <a:t>Builds one portable Spring Boot image</a:t>
            </a:r>
          </a:p>
        </p:txBody>
      </p:sp>
      <p:sp>
        <p:nvSpPr>
          <p:cNvPr id="10" name="Rounded Rectangle 9"/>
          <p:cNvSpPr/>
          <p:nvPr/>
        </p:nvSpPr>
        <p:spPr>
          <a:xfrm>
            <a:off x="4023360" y="1874519"/>
            <a:ext cx="3246120" cy="160020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51960" y="2112263"/>
            <a:ext cx="420624" cy="420624"/>
          </a:xfrm>
          <a:prstGeom prst="roundRect">
            <a:avLst/>
          </a:prstGeom>
          <a:solidFill>
            <a:srgbClr val="ECF0FB"/>
          </a:solidFill>
          <a:ln>
            <a:solidFill>
              <a:srgbClr val="ECF0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2157984"/>
            <a:ext cx="420624" cy="228600"/>
          </a:xfrm>
          <a:prstGeom prst="rect">
            <a:avLst/>
          </a:prstGeom>
          <a:noFill/>
        </p:spPr>
        <p:txBody>
          <a:bodyPr wrap="square" lIns="0" rIns="0" tIns="0" bIns="0" anchor="t">
            <a:spAutoFit/>
          </a:bodyPr>
          <a:lstStyle/>
          <a:p>
            <a:pPr algn="ctr"/>
            <a:r>
              <a:rPr sz="1100" b="1">
                <a:solidFill>
                  <a:srgbClr val="4864B6"/>
                </a:solidFill>
                <a:latin typeface="Aptos"/>
              </a:rPr>
              <a:t>2</a:t>
            </a:r>
          </a:p>
        </p:txBody>
      </p:sp>
      <p:sp>
        <p:nvSpPr>
          <p:cNvPr id="13" name="TextBox 12"/>
          <p:cNvSpPr txBox="1"/>
          <p:nvPr/>
        </p:nvSpPr>
        <p:spPr>
          <a:xfrm>
            <a:off x="4828032" y="2093976"/>
            <a:ext cx="2103120" cy="320040"/>
          </a:xfrm>
          <a:prstGeom prst="rect">
            <a:avLst/>
          </a:prstGeom>
          <a:noFill/>
        </p:spPr>
        <p:txBody>
          <a:bodyPr wrap="square" lIns="0" rIns="0" tIns="0" bIns="0" anchor="t">
            <a:spAutoFit/>
          </a:bodyPr>
          <a:lstStyle/>
          <a:p>
            <a:pPr algn="l"/>
            <a:r>
              <a:rPr sz="1700" b="1">
                <a:solidFill>
                  <a:srgbClr val="12231F"/>
                </a:solidFill>
                <a:latin typeface="Aptos"/>
              </a:rPr>
              <a:t>Amazon ECR</a:t>
            </a:r>
          </a:p>
        </p:txBody>
      </p:sp>
      <p:sp>
        <p:nvSpPr>
          <p:cNvPr id="14" name="TextBox 13"/>
          <p:cNvSpPr txBox="1"/>
          <p:nvPr/>
        </p:nvSpPr>
        <p:spPr>
          <a:xfrm>
            <a:off x="4279392" y="2679191"/>
            <a:ext cx="2724912" cy="530352"/>
          </a:xfrm>
          <a:prstGeom prst="rect">
            <a:avLst/>
          </a:prstGeom>
          <a:noFill/>
        </p:spPr>
        <p:txBody>
          <a:bodyPr wrap="square" lIns="0" rIns="0" tIns="0" bIns="0" anchor="t">
            <a:spAutoFit/>
          </a:bodyPr>
          <a:lstStyle/>
          <a:p>
            <a:pPr algn="l"/>
            <a:r>
              <a:rPr sz="1300" b="0">
                <a:solidFill>
                  <a:srgbClr val="66746F"/>
                </a:solidFill>
                <a:latin typeface="Aptos"/>
              </a:rPr>
              <a:t>Stores the image pulled by K3s</a:t>
            </a:r>
          </a:p>
        </p:txBody>
      </p:sp>
      <p:sp>
        <p:nvSpPr>
          <p:cNvPr id="15" name="Rounded Rectangle 14"/>
          <p:cNvSpPr/>
          <p:nvPr/>
        </p:nvSpPr>
        <p:spPr>
          <a:xfrm>
            <a:off x="7543800" y="1874519"/>
            <a:ext cx="3246120" cy="160020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0" y="2112263"/>
            <a:ext cx="420624" cy="420624"/>
          </a:xfrm>
          <a:prstGeom prst="roundRect">
            <a:avLst/>
          </a:prstGeom>
          <a:solidFill>
            <a:srgbClr val="FCF1DA"/>
          </a:solidFill>
          <a:ln>
            <a:solidFill>
              <a:srgbClr val="FCF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157984"/>
            <a:ext cx="420624" cy="228600"/>
          </a:xfrm>
          <a:prstGeom prst="rect">
            <a:avLst/>
          </a:prstGeom>
          <a:noFill/>
        </p:spPr>
        <p:txBody>
          <a:bodyPr wrap="square" lIns="0" rIns="0" tIns="0" bIns="0" anchor="t">
            <a:spAutoFit/>
          </a:bodyPr>
          <a:lstStyle/>
          <a:p>
            <a:pPr algn="ctr"/>
            <a:r>
              <a:rPr sz="1100" b="1">
                <a:solidFill>
                  <a:srgbClr val="DC972C"/>
                </a:solidFill>
                <a:latin typeface="Aptos"/>
              </a:rPr>
              <a:t>3</a:t>
            </a:r>
          </a:p>
        </p:txBody>
      </p:sp>
      <p:sp>
        <p:nvSpPr>
          <p:cNvPr id="18" name="TextBox 17"/>
          <p:cNvSpPr txBox="1"/>
          <p:nvPr/>
        </p:nvSpPr>
        <p:spPr>
          <a:xfrm>
            <a:off x="8348472" y="2093976"/>
            <a:ext cx="2103120" cy="320040"/>
          </a:xfrm>
          <a:prstGeom prst="rect">
            <a:avLst/>
          </a:prstGeom>
          <a:noFill/>
        </p:spPr>
        <p:txBody>
          <a:bodyPr wrap="square" lIns="0" rIns="0" tIns="0" bIns="0" anchor="t">
            <a:spAutoFit/>
          </a:bodyPr>
          <a:lstStyle/>
          <a:p>
            <a:pPr algn="l"/>
            <a:r>
              <a:rPr sz="1700" b="1">
                <a:solidFill>
                  <a:srgbClr val="12231F"/>
                </a:solidFill>
                <a:latin typeface="Aptos"/>
              </a:rPr>
              <a:t>Terraform</a:t>
            </a:r>
          </a:p>
        </p:txBody>
      </p:sp>
      <p:sp>
        <p:nvSpPr>
          <p:cNvPr id="19" name="TextBox 18"/>
          <p:cNvSpPr txBox="1"/>
          <p:nvPr/>
        </p:nvSpPr>
        <p:spPr>
          <a:xfrm>
            <a:off x="7799831" y="2679191"/>
            <a:ext cx="2724912" cy="530352"/>
          </a:xfrm>
          <a:prstGeom prst="rect">
            <a:avLst/>
          </a:prstGeom>
          <a:noFill/>
        </p:spPr>
        <p:txBody>
          <a:bodyPr wrap="square" lIns="0" rIns="0" tIns="0" bIns="0" anchor="t">
            <a:spAutoFit/>
          </a:bodyPr>
          <a:lstStyle/>
          <a:p>
            <a:pPr algn="l"/>
            <a:r>
              <a:rPr sz="1300" b="0">
                <a:solidFill>
                  <a:srgbClr val="66746F"/>
                </a:solidFill>
                <a:latin typeface="Aptos"/>
              </a:rPr>
              <a:t>Creates repeatable AWS infrastructure</a:t>
            </a:r>
          </a:p>
        </p:txBody>
      </p:sp>
      <p:sp>
        <p:nvSpPr>
          <p:cNvPr id="20" name="Rounded Rectangle 19"/>
          <p:cNvSpPr/>
          <p:nvPr/>
        </p:nvSpPr>
        <p:spPr>
          <a:xfrm>
            <a:off x="502920" y="3886200"/>
            <a:ext cx="3246120" cy="160020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4123944"/>
            <a:ext cx="420624" cy="420624"/>
          </a:xfrm>
          <a:prstGeom prst="roundRect">
            <a:avLst/>
          </a:prstGeom>
          <a:solidFill>
            <a:srgbClr val="EBF7F2"/>
          </a:solidFill>
          <a:ln>
            <a:solidFill>
              <a:srgbClr val="EB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169663"/>
            <a:ext cx="420624" cy="228600"/>
          </a:xfrm>
          <a:prstGeom prst="rect">
            <a:avLst/>
          </a:prstGeom>
          <a:noFill/>
        </p:spPr>
        <p:txBody>
          <a:bodyPr wrap="square" lIns="0" rIns="0" tIns="0" bIns="0" anchor="t">
            <a:spAutoFit/>
          </a:bodyPr>
          <a:lstStyle/>
          <a:p>
            <a:pPr algn="ctr"/>
            <a:r>
              <a:rPr sz="1100" b="1">
                <a:solidFill>
                  <a:srgbClr val="277E63"/>
                </a:solidFill>
                <a:latin typeface="Aptos"/>
              </a:rPr>
              <a:t>4</a:t>
            </a:r>
          </a:p>
        </p:txBody>
      </p:sp>
      <p:sp>
        <p:nvSpPr>
          <p:cNvPr id="23" name="TextBox 22"/>
          <p:cNvSpPr txBox="1"/>
          <p:nvPr/>
        </p:nvSpPr>
        <p:spPr>
          <a:xfrm>
            <a:off x="1307592" y="4105656"/>
            <a:ext cx="2103120" cy="320040"/>
          </a:xfrm>
          <a:prstGeom prst="rect">
            <a:avLst/>
          </a:prstGeom>
          <a:noFill/>
        </p:spPr>
        <p:txBody>
          <a:bodyPr wrap="square" lIns="0" rIns="0" tIns="0" bIns="0" anchor="t">
            <a:spAutoFit/>
          </a:bodyPr>
          <a:lstStyle/>
          <a:p>
            <a:pPr algn="l"/>
            <a:r>
              <a:rPr sz="1700" b="1">
                <a:solidFill>
                  <a:srgbClr val="12231F"/>
                </a:solidFill>
                <a:latin typeface="Aptos"/>
              </a:rPr>
              <a:t>Kubernetes / K3s</a:t>
            </a:r>
          </a:p>
        </p:txBody>
      </p:sp>
      <p:sp>
        <p:nvSpPr>
          <p:cNvPr id="24" name="TextBox 23"/>
          <p:cNvSpPr txBox="1"/>
          <p:nvPr/>
        </p:nvSpPr>
        <p:spPr>
          <a:xfrm>
            <a:off x="758952" y="4690872"/>
            <a:ext cx="2724912" cy="530352"/>
          </a:xfrm>
          <a:prstGeom prst="rect">
            <a:avLst/>
          </a:prstGeom>
          <a:noFill/>
        </p:spPr>
        <p:txBody>
          <a:bodyPr wrap="square" lIns="0" rIns="0" tIns="0" bIns="0" anchor="t">
            <a:spAutoFit/>
          </a:bodyPr>
          <a:lstStyle/>
          <a:p>
            <a:pPr algn="l"/>
            <a:r>
              <a:rPr sz="1300" b="0">
                <a:solidFill>
                  <a:srgbClr val="66746F"/>
                </a:solidFill>
                <a:latin typeface="Aptos"/>
              </a:rPr>
              <a:t>Runs pods, probes, Services and HPA</a:t>
            </a:r>
          </a:p>
        </p:txBody>
      </p:sp>
      <p:sp>
        <p:nvSpPr>
          <p:cNvPr id="25" name="Rounded Rectangle 24"/>
          <p:cNvSpPr/>
          <p:nvPr/>
        </p:nvSpPr>
        <p:spPr>
          <a:xfrm>
            <a:off x="4023360" y="3886200"/>
            <a:ext cx="3246120" cy="160020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51960" y="4123944"/>
            <a:ext cx="420624" cy="420624"/>
          </a:xfrm>
          <a:prstGeom prst="roundRect">
            <a:avLst/>
          </a:prstGeom>
          <a:solidFill>
            <a:srgbClr val="F7E8E7"/>
          </a:solidFill>
          <a:ln>
            <a:solidFill>
              <a:srgbClr val="F7E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51960" y="4169663"/>
            <a:ext cx="420624" cy="228600"/>
          </a:xfrm>
          <a:prstGeom prst="rect">
            <a:avLst/>
          </a:prstGeom>
          <a:noFill/>
        </p:spPr>
        <p:txBody>
          <a:bodyPr wrap="square" lIns="0" rIns="0" tIns="0" bIns="0" anchor="t">
            <a:spAutoFit/>
          </a:bodyPr>
          <a:lstStyle/>
          <a:p>
            <a:pPr algn="ctr"/>
            <a:r>
              <a:rPr sz="1100" b="1">
                <a:solidFill>
                  <a:srgbClr val="B74238"/>
                </a:solidFill>
                <a:latin typeface="Aptos"/>
              </a:rPr>
              <a:t>5</a:t>
            </a:r>
          </a:p>
        </p:txBody>
      </p:sp>
      <p:sp>
        <p:nvSpPr>
          <p:cNvPr id="28" name="TextBox 27"/>
          <p:cNvSpPr txBox="1"/>
          <p:nvPr/>
        </p:nvSpPr>
        <p:spPr>
          <a:xfrm>
            <a:off x="4828032" y="4105656"/>
            <a:ext cx="2103120" cy="320040"/>
          </a:xfrm>
          <a:prstGeom prst="rect">
            <a:avLst/>
          </a:prstGeom>
          <a:noFill/>
        </p:spPr>
        <p:txBody>
          <a:bodyPr wrap="square" lIns="0" rIns="0" tIns="0" bIns="0" anchor="t">
            <a:spAutoFit/>
          </a:bodyPr>
          <a:lstStyle/>
          <a:p>
            <a:pPr algn="l"/>
            <a:r>
              <a:rPr sz="1700" b="1">
                <a:solidFill>
                  <a:srgbClr val="12231F"/>
                </a:solidFill>
                <a:latin typeface="Aptos"/>
              </a:rPr>
              <a:t>RDS MySQL</a:t>
            </a:r>
          </a:p>
        </p:txBody>
      </p:sp>
      <p:sp>
        <p:nvSpPr>
          <p:cNvPr id="29" name="TextBox 28"/>
          <p:cNvSpPr txBox="1"/>
          <p:nvPr/>
        </p:nvSpPr>
        <p:spPr>
          <a:xfrm>
            <a:off x="4279392" y="4690872"/>
            <a:ext cx="2724912" cy="530352"/>
          </a:xfrm>
          <a:prstGeom prst="rect">
            <a:avLst/>
          </a:prstGeom>
          <a:noFill/>
        </p:spPr>
        <p:txBody>
          <a:bodyPr wrap="square" lIns="0" rIns="0" tIns="0" bIns="0" anchor="t">
            <a:spAutoFit/>
          </a:bodyPr>
          <a:lstStyle/>
          <a:p>
            <a:pPr algn="l"/>
            <a:r>
              <a:rPr sz="1300" b="0">
                <a:solidFill>
                  <a:srgbClr val="66746F"/>
                </a:solidFill>
                <a:latin typeface="Aptos"/>
              </a:rPr>
              <a:t>Keeps task data outside the pods</a:t>
            </a:r>
          </a:p>
        </p:txBody>
      </p:sp>
      <p:sp>
        <p:nvSpPr>
          <p:cNvPr id="30" name="Rounded Rectangle 29"/>
          <p:cNvSpPr/>
          <p:nvPr/>
        </p:nvSpPr>
        <p:spPr>
          <a:xfrm>
            <a:off x="7543800" y="3886200"/>
            <a:ext cx="3246120" cy="160020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772400" y="4123944"/>
            <a:ext cx="420624" cy="420624"/>
          </a:xfrm>
          <a:prstGeom prst="roundRect">
            <a:avLst/>
          </a:prstGeom>
          <a:solidFill>
            <a:srgbClr val="ECF0FB"/>
          </a:solidFill>
          <a:ln>
            <a:solidFill>
              <a:srgbClr val="ECF0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4169663"/>
            <a:ext cx="420624" cy="228600"/>
          </a:xfrm>
          <a:prstGeom prst="rect">
            <a:avLst/>
          </a:prstGeom>
          <a:noFill/>
        </p:spPr>
        <p:txBody>
          <a:bodyPr wrap="square" lIns="0" rIns="0" tIns="0" bIns="0" anchor="t">
            <a:spAutoFit/>
          </a:bodyPr>
          <a:lstStyle/>
          <a:p>
            <a:pPr algn="ctr"/>
            <a:r>
              <a:rPr sz="1100" b="1">
                <a:solidFill>
                  <a:srgbClr val="4864B6"/>
                </a:solidFill>
                <a:latin typeface="Aptos"/>
              </a:rPr>
              <a:t>6</a:t>
            </a:r>
          </a:p>
        </p:txBody>
      </p:sp>
      <p:sp>
        <p:nvSpPr>
          <p:cNvPr id="33" name="TextBox 32"/>
          <p:cNvSpPr txBox="1"/>
          <p:nvPr/>
        </p:nvSpPr>
        <p:spPr>
          <a:xfrm>
            <a:off x="8348472" y="4105656"/>
            <a:ext cx="2103120" cy="320040"/>
          </a:xfrm>
          <a:prstGeom prst="rect">
            <a:avLst/>
          </a:prstGeom>
          <a:noFill/>
        </p:spPr>
        <p:txBody>
          <a:bodyPr wrap="square" lIns="0" rIns="0" tIns="0" bIns="0" anchor="t">
            <a:spAutoFit/>
          </a:bodyPr>
          <a:lstStyle/>
          <a:p>
            <a:pPr algn="l"/>
            <a:r>
              <a:rPr sz="1700" b="1">
                <a:solidFill>
                  <a:srgbClr val="12231F"/>
                </a:solidFill>
                <a:latin typeface="Aptos"/>
              </a:rPr>
              <a:t>GitHub Actions</a:t>
            </a:r>
          </a:p>
        </p:txBody>
      </p:sp>
      <p:sp>
        <p:nvSpPr>
          <p:cNvPr id="34" name="TextBox 33"/>
          <p:cNvSpPr txBox="1"/>
          <p:nvPr/>
        </p:nvSpPr>
        <p:spPr>
          <a:xfrm>
            <a:off x="7799831" y="4690872"/>
            <a:ext cx="2724912" cy="530352"/>
          </a:xfrm>
          <a:prstGeom prst="rect">
            <a:avLst/>
          </a:prstGeom>
          <a:noFill/>
        </p:spPr>
        <p:txBody>
          <a:bodyPr wrap="square" lIns="0" rIns="0" tIns="0" bIns="0" anchor="t">
            <a:spAutoFit/>
          </a:bodyPr>
          <a:lstStyle/>
          <a:p>
            <a:pPr algn="l"/>
            <a:r>
              <a:rPr sz="1300" b="0">
                <a:solidFill>
                  <a:srgbClr val="66746F"/>
                </a:solidFill>
                <a:latin typeface="Aptos"/>
              </a:rPr>
              <a:t>Tests the app and validates Terraform</a:t>
            </a:r>
          </a:p>
        </p:txBody>
      </p:sp>
      <p:sp>
        <p:nvSpPr>
          <p:cNvPr id="35" name="TextBox 34"/>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66746F"/>
                </a:solidFill>
                <a:latin typeface="Aptos"/>
              </a:rPr>
              <a:t>STUDENT TASK MANAGER  •  CLOUD COMPUTING MINI PROJECT</a:t>
            </a:r>
          </a:p>
        </p:txBody>
      </p:sp>
      <p:sp>
        <p:nvSpPr>
          <p:cNvPr id="36" name="TextBox 35"/>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66746F"/>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TextBox 1"/>
          <p:cNvSpPr txBox="1"/>
          <p:nvPr/>
        </p:nvSpPr>
        <p:spPr>
          <a:xfrm>
            <a:off x="502920" y="393192"/>
            <a:ext cx="502920" cy="320040"/>
          </a:xfrm>
          <a:prstGeom prst="rect">
            <a:avLst/>
          </a:prstGeom>
          <a:noFill/>
        </p:spPr>
        <p:txBody>
          <a:bodyPr wrap="square" lIns="0" rIns="0" tIns="0" bIns="0" anchor="t">
            <a:spAutoFit/>
          </a:bodyPr>
          <a:lstStyle/>
          <a:p>
            <a:pPr algn="l"/>
            <a:r>
              <a:rPr sz="1100" b="1">
                <a:solidFill>
                  <a:srgbClr val="277E63"/>
                </a:solidFill>
                <a:latin typeface="Aptos"/>
              </a:rPr>
              <a:t>05</a:t>
            </a:r>
          </a:p>
        </p:txBody>
      </p:sp>
      <p:sp>
        <p:nvSpPr>
          <p:cNvPr id="3" name="TextBox 2"/>
          <p:cNvSpPr txBox="1"/>
          <p:nvPr/>
        </p:nvSpPr>
        <p:spPr>
          <a:xfrm>
            <a:off x="987552" y="393192"/>
            <a:ext cx="4389120" cy="320040"/>
          </a:xfrm>
          <a:prstGeom prst="rect">
            <a:avLst/>
          </a:prstGeom>
          <a:noFill/>
        </p:spPr>
        <p:txBody>
          <a:bodyPr wrap="square" lIns="0" rIns="0" tIns="0" bIns="0" anchor="t">
            <a:spAutoFit/>
          </a:bodyPr>
          <a:lstStyle/>
          <a:p>
            <a:pPr algn="l"/>
            <a:r>
              <a:rPr sz="1100" b="1">
                <a:solidFill>
                  <a:srgbClr val="277E63"/>
                </a:solidFill>
                <a:latin typeface="Aptos"/>
              </a:rPr>
              <a:t>AUTO-SCALING</a:t>
            </a:r>
          </a:p>
        </p:txBody>
      </p:sp>
      <p:sp>
        <p:nvSpPr>
          <p:cNvPr id="4" name="TextBox 3"/>
          <p:cNvSpPr txBox="1"/>
          <p:nvPr/>
        </p:nvSpPr>
        <p:spPr>
          <a:xfrm>
            <a:off x="502920" y="804672"/>
            <a:ext cx="11064240" cy="640080"/>
          </a:xfrm>
          <a:prstGeom prst="rect">
            <a:avLst/>
          </a:prstGeom>
          <a:noFill/>
        </p:spPr>
        <p:txBody>
          <a:bodyPr wrap="square" lIns="0" rIns="0" tIns="0" bIns="0" anchor="t">
            <a:spAutoFit/>
          </a:bodyPr>
          <a:lstStyle/>
          <a:p>
            <a:pPr algn="l"/>
            <a:r>
              <a:rPr sz="3000" b="1">
                <a:solidFill>
                  <a:srgbClr val="12231F"/>
                </a:solidFill>
                <a:latin typeface="Aptos"/>
              </a:rPr>
              <a:t>HPA responds to CPU demand—and scales back down</a:t>
            </a:r>
          </a:p>
        </p:txBody>
      </p:sp>
      <p:sp>
        <p:nvSpPr>
          <p:cNvPr id="5" name="TextBox 4"/>
          <p:cNvSpPr txBox="1"/>
          <p:nvPr/>
        </p:nvSpPr>
        <p:spPr>
          <a:xfrm>
            <a:off x="530352" y="1417320"/>
            <a:ext cx="10789920" cy="411480"/>
          </a:xfrm>
          <a:prstGeom prst="rect">
            <a:avLst/>
          </a:prstGeom>
          <a:noFill/>
        </p:spPr>
        <p:txBody>
          <a:bodyPr wrap="square" lIns="0" rIns="0" tIns="0" bIns="0" anchor="t">
            <a:spAutoFit/>
          </a:bodyPr>
          <a:lstStyle/>
          <a:p>
            <a:pPr algn="l"/>
            <a:r>
              <a:rPr sz="1400" b="0">
                <a:solidFill>
                  <a:srgbClr val="66746F"/>
                </a:solidFill>
                <a:latin typeface="Aptos"/>
              </a:rPr>
              <a:t>CPU target: 60%  •  Minimum: 1 pod  •  Maximum: 2 pods</a:t>
            </a:r>
          </a:p>
        </p:txBody>
      </p:sp>
      <p:sp>
        <p:nvSpPr>
          <p:cNvPr id="6" name="Rounded Rectangle 5"/>
          <p:cNvSpPr/>
          <p:nvPr/>
        </p:nvSpPr>
        <p:spPr>
          <a:xfrm>
            <a:off x="502920" y="1993392"/>
            <a:ext cx="2359152" cy="1664208"/>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212848"/>
            <a:ext cx="457200" cy="228600"/>
          </a:xfrm>
          <a:prstGeom prst="rect">
            <a:avLst/>
          </a:prstGeom>
          <a:noFill/>
        </p:spPr>
        <p:txBody>
          <a:bodyPr wrap="square" lIns="0" rIns="0" tIns="0" bIns="0" anchor="t">
            <a:spAutoFit/>
          </a:bodyPr>
          <a:lstStyle/>
          <a:p>
            <a:pPr algn="l"/>
            <a:r>
              <a:rPr sz="1000" b="1">
                <a:solidFill>
                  <a:srgbClr val="277E63"/>
                </a:solidFill>
                <a:latin typeface="Aptos"/>
              </a:rPr>
              <a:t>01</a:t>
            </a:r>
          </a:p>
        </p:txBody>
      </p:sp>
      <p:sp>
        <p:nvSpPr>
          <p:cNvPr id="8" name="TextBox 7"/>
          <p:cNvSpPr txBox="1"/>
          <p:nvPr/>
        </p:nvSpPr>
        <p:spPr>
          <a:xfrm>
            <a:off x="1207008" y="2194560"/>
            <a:ext cx="1371600" cy="256032"/>
          </a:xfrm>
          <a:prstGeom prst="rect">
            <a:avLst/>
          </a:prstGeom>
          <a:noFill/>
        </p:spPr>
        <p:txBody>
          <a:bodyPr wrap="square" lIns="0" rIns="0" tIns="0" bIns="0" anchor="t">
            <a:spAutoFit/>
          </a:bodyPr>
          <a:lstStyle/>
          <a:p>
            <a:pPr algn="l"/>
            <a:r>
              <a:rPr sz="1100" b="1">
                <a:solidFill>
                  <a:srgbClr val="277E63"/>
                </a:solidFill>
                <a:latin typeface="Aptos"/>
              </a:rPr>
              <a:t>NORMAL</a:t>
            </a:r>
          </a:p>
        </p:txBody>
      </p:sp>
      <p:sp>
        <p:nvSpPr>
          <p:cNvPr id="9" name="TextBox 8"/>
          <p:cNvSpPr txBox="1"/>
          <p:nvPr/>
        </p:nvSpPr>
        <p:spPr>
          <a:xfrm>
            <a:off x="704088" y="2679192"/>
            <a:ext cx="1828800" cy="384048"/>
          </a:xfrm>
          <a:prstGeom prst="rect">
            <a:avLst/>
          </a:prstGeom>
          <a:noFill/>
        </p:spPr>
        <p:txBody>
          <a:bodyPr wrap="square" lIns="0" rIns="0" tIns="0" bIns="0" anchor="t">
            <a:spAutoFit/>
          </a:bodyPr>
          <a:lstStyle/>
          <a:p>
            <a:pPr algn="l"/>
            <a:r>
              <a:rPr sz="2100" b="1">
                <a:solidFill>
                  <a:srgbClr val="12231F"/>
                </a:solidFill>
                <a:latin typeface="Aptos"/>
              </a:rPr>
              <a:t>1 pod</a:t>
            </a:r>
          </a:p>
        </p:txBody>
      </p:sp>
      <p:sp>
        <p:nvSpPr>
          <p:cNvPr id="10" name="TextBox 9"/>
          <p:cNvSpPr txBox="1"/>
          <p:nvPr/>
        </p:nvSpPr>
        <p:spPr>
          <a:xfrm>
            <a:off x="704088" y="3200400"/>
            <a:ext cx="1828800" cy="228600"/>
          </a:xfrm>
          <a:prstGeom prst="rect">
            <a:avLst/>
          </a:prstGeom>
          <a:noFill/>
        </p:spPr>
        <p:txBody>
          <a:bodyPr wrap="square" lIns="0" rIns="0" tIns="0" bIns="0" anchor="t">
            <a:spAutoFit/>
          </a:bodyPr>
          <a:lstStyle/>
          <a:p>
            <a:pPr algn="l"/>
            <a:r>
              <a:rPr sz="1100" b="1">
                <a:solidFill>
                  <a:srgbClr val="66746F"/>
                </a:solidFill>
                <a:latin typeface="Aptos"/>
              </a:rPr>
              <a:t>Low CPU</a:t>
            </a:r>
          </a:p>
        </p:txBody>
      </p:sp>
      <p:sp>
        <p:nvSpPr>
          <p:cNvPr id="11" name="Chevron 10"/>
          <p:cNvSpPr/>
          <p:nvPr/>
        </p:nvSpPr>
        <p:spPr>
          <a:xfrm>
            <a:off x="2944368" y="2606040"/>
            <a:ext cx="384048" cy="438912"/>
          </a:xfrm>
          <a:prstGeom prst="chevron">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1993392"/>
            <a:ext cx="2359152" cy="1664208"/>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2212848"/>
            <a:ext cx="457200" cy="228600"/>
          </a:xfrm>
          <a:prstGeom prst="rect">
            <a:avLst/>
          </a:prstGeom>
          <a:noFill/>
        </p:spPr>
        <p:txBody>
          <a:bodyPr wrap="square" lIns="0" rIns="0" tIns="0" bIns="0" anchor="t">
            <a:spAutoFit/>
          </a:bodyPr>
          <a:lstStyle/>
          <a:p>
            <a:pPr algn="l"/>
            <a:r>
              <a:rPr sz="1000" b="1">
                <a:solidFill>
                  <a:srgbClr val="DC972C"/>
                </a:solidFill>
                <a:latin typeface="Aptos"/>
              </a:rPr>
              <a:t>02</a:t>
            </a:r>
          </a:p>
        </p:txBody>
      </p:sp>
      <p:sp>
        <p:nvSpPr>
          <p:cNvPr id="14" name="TextBox 13"/>
          <p:cNvSpPr txBox="1"/>
          <p:nvPr/>
        </p:nvSpPr>
        <p:spPr>
          <a:xfrm>
            <a:off x="4133087" y="2194560"/>
            <a:ext cx="1371600" cy="256032"/>
          </a:xfrm>
          <a:prstGeom prst="rect">
            <a:avLst/>
          </a:prstGeom>
          <a:noFill/>
        </p:spPr>
        <p:txBody>
          <a:bodyPr wrap="square" lIns="0" rIns="0" tIns="0" bIns="0" anchor="t">
            <a:spAutoFit/>
          </a:bodyPr>
          <a:lstStyle/>
          <a:p>
            <a:pPr algn="l"/>
            <a:r>
              <a:rPr sz="1100" b="1">
                <a:solidFill>
                  <a:srgbClr val="DC972C"/>
                </a:solidFill>
                <a:latin typeface="Aptos"/>
              </a:rPr>
              <a:t>LOAD</a:t>
            </a:r>
          </a:p>
        </p:txBody>
      </p:sp>
      <p:sp>
        <p:nvSpPr>
          <p:cNvPr id="15" name="TextBox 14"/>
          <p:cNvSpPr txBox="1"/>
          <p:nvPr/>
        </p:nvSpPr>
        <p:spPr>
          <a:xfrm>
            <a:off x="3630168" y="2679192"/>
            <a:ext cx="1828800" cy="384048"/>
          </a:xfrm>
          <a:prstGeom prst="rect">
            <a:avLst/>
          </a:prstGeom>
          <a:noFill/>
        </p:spPr>
        <p:txBody>
          <a:bodyPr wrap="square" lIns="0" rIns="0" tIns="0" bIns="0" anchor="t">
            <a:spAutoFit/>
          </a:bodyPr>
          <a:lstStyle/>
          <a:p>
            <a:pPr algn="l"/>
            <a:r>
              <a:rPr sz="2100" b="1">
                <a:solidFill>
                  <a:srgbClr val="12231F"/>
                </a:solidFill>
                <a:latin typeface="Aptos"/>
              </a:rPr>
              <a:t>CPU &gt; 60%</a:t>
            </a:r>
          </a:p>
        </p:txBody>
      </p:sp>
      <p:sp>
        <p:nvSpPr>
          <p:cNvPr id="16" name="TextBox 15"/>
          <p:cNvSpPr txBox="1"/>
          <p:nvPr/>
        </p:nvSpPr>
        <p:spPr>
          <a:xfrm>
            <a:off x="3630168" y="3200400"/>
            <a:ext cx="1828800" cy="228600"/>
          </a:xfrm>
          <a:prstGeom prst="rect">
            <a:avLst/>
          </a:prstGeom>
          <a:noFill/>
        </p:spPr>
        <p:txBody>
          <a:bodyPr wrap="square" lIns="0" rIns="0" tIns="0" bIns="0" anchor="t">
            <a:spAutoFit/>
          </a:bodyPr>
          <a:lstStyle/>
          <a:p>
            <a:pPr algn="l"/>
            <a:r>
              <a:rPr sz="1100" b="1">
                <a:solidFill>
                  <a:srgbClr val="66746F"/>
                </a:solidFill>
                <a:latin typeface="Aptos"/>
              </a:rPr>
              <a:t>Peak 319%</a:t>
            </a:r>
          </a:p>
        </p:txBody>
      </p:sp>
      <p:sp>
        <p:nvSpPr>
          <p:cNvPr id="17" name="Chevron 16"/>
          <p:cNvSpPr/>
          <p:nvPr/>
        </p:nvSpPr>
        <p:spPr>
          <a:xfrm>
            <a:off x="5870448" y="2606040"/>
            <a:ext cx="384048" cy="438912"/>
          </a:xfrm>
          <a:prstGeom prst="chevron">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5080" y="1993392"/>
            <a:ext cx="2359152" cy="1664208"/>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56248" y="2212848"/>
            <a:ext cx="457200" cy="228600"/>
          </a:xfrm>
          <a:prstGeom prst="rect">
            <a:avLst/>
          </a:prstGeom>
          <a:noFill/>
        </p:spPr>
        <p:txBody>
          <a:bodyPr wrap="square" lIns="0" rIns="0" tIns="0" bIns="0" anchor="t">
            <a:spAutoFit/>
          </a:bodyPr>
          <a:lstStyle/>
          <a:p>
            <a:pPr algn="l"/>
            <a:r>
              <a:rPr sz="1000" b="1">
                <a:solidFill>
                  <a:srgbClr val="4864B6"/>
                </a:solidFill>
                <a:latin typeface="Aptos"/>
              </a:rPr>
              <a:t>03</a:t>
            </a:r>
          </a:p>
        </p:txBody>
      </p:sp>
      <p:sp>
        <p:nvSpPr>
          <p:cNvPr id="20" name="TextBox 19"/>
          <p:cNvSpPr txBox="1"/>
          <p:nvPr/>
        </p:nvSpPr>
        <p:spPr>
          <a:xfrm>
            <a:off x="7059168" y="2194560"/>
            <a:ext cx="1371600" cy="256032"/>
          </a:xfrm>
          <a:prstGeom prst="rect">
            <a:avLst/>
          </a:prstGeom>
          <a:noFill/>
        </p:spPr>
        <p:txBody>
          <a:bodyPr wrap="square" lIns="0" rIns="0" tIns="0" bIns="0" anchor="t">
            <a:spAutoFit/>
          </a:bodyPr>
          <a:lstStyle/>
          <a:p>
            <a:pPr algn="l"/>
            <a:r>
              <a:rPr sz="1100" b="1">
                <a:solidFill>
                  <a:srgbClr val="4864B6"/>
                </a:solidFill>
                <a:latin typeface="Aptos"/>
              </a:rPr>
              <a:t>SCALE UP</a:t>
            </a:r>
          </a:p>
        </p:txBody>
      </p:sp>
      <p:sp>
        <p:nvSpPr>
          <p:cNvPr id="21" name="TextBox 20"/>
          <p:cNvSpPr txBox="1"/>
          <p:nvPr/>
        </p:nvSpPr>
        <p:spPr>
          <a:xfrm>
            <a:off x="6556248" y="2679192"/>
            <a:ext cx="1828800" cy="384048"/>
          </a:xfrm>
          <a:prstGeom prst="rect">
            <a:avLst/>
          </a:prstGeom>
          <a:noFill/>
        </p:spPr>
        <p:txBody>
          <a:bodyPr wrap="square" lIns="0" rIns="0" tIns="0" bIns="0" anchor="t">
            <a:spAutoFit/>
          </a:bodyPr>
          <a:lstStyle/>
          <a:p>
            <a:pPr algn="l"/>
            <a:r>
              <a:rPr sz="2100" b="1">
                <a:solidFill>
                  <a:srgbClr val="12231F"/>
                </a:solidFill>
                <a:latin typeface="Aptos"/>
              </a:rPr>
              <a:t>2 pods</a:t>
            </a:r>
          </a:p>
        </p:txBody>
      </p:sp>
      <p:sp>
        <p:nvSpPr>
          <p:cNvPr id="22" name="TextBox 21"/>
          <p:cNvSpPr txBox="1"/>
          <p:nvPr/>
        </p:nvSpPr>
        <p:spPr>
          <a:xfrm>
            <a:off x="6556248" y="3200400"/>
            <a:ext cx="1828800" cy="228600"/>
          </a:xfrm>
          <a:prstGeom prst="rect">
            <a:avLst/>
          </a:prstGeom>
          <a:noFill/>
        </p:spPr>
        <p:txBody>
          <a:bodyPr wrap="square" lIns="0" rIns="0" tIns="0" bIns="0" anchor="t">
            <a:spAutoFit/>
          </a:bodyPr>
          <a:lstStyle/>
          <a:p>
            <a:pPr algn="l"/>
            <a:r>
              <a:rPr sz="1100" b="1">
                <a:solidFill>
                  <a:srgbClr val="66746F"/>
                </a:solidFill>
                <a:latin typeface="Aptos"/>
              </a:rPr>
              <a:t>Both Ready</a:t>
            </a:r>
          </a:p>
        </p:txBody>
      </p:sp>
      <p:sp>
        <p:nvSpPr>
          <p:cNvPr id="23" name="Chevron 22"/>
          <p:cNvSpPr/>
          <p:nvPr/>
        </p:nvSpPr>
        <p:spPr>
          <a:xfrm>
            <a:off x="8796528" y="2606040"/>
            <a:ext cx="384048" cy="438912"/>
          </a:xfrm>
          <a:prstGeom prst="chevron">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81160" y="1993392"/>
            <a:ext cx="2359152" cy="1664208"/>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82328" y="2212848"/>
            <a:ext cx="457200" cy="228600"/>
          </a:xfrm>
          <a:prstGeom prst="rect">
            <a:avLst/>
          </a:prstGeom>
          <a:noFill/>
        </p:spPr>
        <p:txBody>
          <a:bodyPr wrap="square" lIns="0" rIns="0" tIns="0" bIns="0" anchor="t">
            <a:spAutoFit/>
          </a:bodyPr>
          <a:lstStyle/>
          <a:p>
            <a:pPr algn="l"/>
            <a:r>
              <a:rPr sz="1000" b="1">
                <a:solidFill>
                  <a:srgbClr val="277E63"/>
                </a:solidFill>
                <a:latin typeface="Aptos"/>
              </a:rPr>
              <a:t>04</a:t>
            </a:r>
          </a:p>
        </p:txBody>
      </p:sp>
      <p:sp>
        <p:nvSpPr>
          <p:cNvPr id="26" name="TextBox 25"/>
          <p:cNvSpPr txBox="1"/>
          <p:nvPr/>
        </p:nvSpPr>
        <p:spPr>
          <a:xfrm>
            <a:off x="9985248" y="2194560"/>
            <a:ext cx="1371600" cy="256032"/>
          </a:xfrm>
          <a:prstGeom prst="rect">
            <a:avLst/>
          </a:prstGeom>
          <a:noFill/>
        </p:spPr>
        <p:txBody>
          <a:bodyPr wrap="square" lIns="0" rIns="0" tIns="0" bIns="0" anchor="t">
            <a:spAutoFit/>
          </a:bodyPr>
          <a:lstStyle/>
          <a:p>
            <a:pPr algn="l"/>
            <a:r>
              <a:rPr sz="1100" b="1">
                <a:solidFill>
                  <a:srgbClr val="277E63"/>
                </a:solidFill>
                <a:latin typeface="Aptos"/>
              </a:rPr>
              <a:t>COOLDOWN</a:t>
            </a:r>
          </a:p>
        </p:txBody>
      </p:sp>
      <p:sp>
        <p:nvSpPr>
          <p:cNvPr id="27" name="TextBox 26"/>
          <p:cNvSpPr txBox="1"/>
          <p:nvPr/>
        </p:nvSpPr>
        <p:spPr>
          <a:xfrm>
            <a:off x="9482328" y="2679192"/>
            <a:ext cx="1828800" cy="384048"/>
          </a:xfrm>
          <a:prstGeom prst="rect">
            <a:avLst/>
          </a:prstGeom>
          <a:noFill/>
        </p:spPr>
        <p:txBody>
          <a:bodyPr wrap="square" lIns="0" rIns="0" tIns="0" bIns="0" anchor="t">
            <a:spAutoFit/>
          </a:bodyPr>
          <a:lstStyle/>
          <a:p>
            <a:pPr algn="l"/>
            <a:r>
              <a:rPr sz="2100" b="1">
                <a:solidFill>
                  <a:srgbClr val="12231F"/>
                </a:solidFill>
                <a:latin typeface="Aptos"/>
              </a:rPr>
              <a:t>1 pod</a:t>
            </a:r>
          </a:p>
        </p:txBody>
      </p:sp>
      <p:sp>
        <p:nvSpPr>
          <p:cNvPr id="28" name="TextBox 27"/>
          <p:cNvSpPr txBox="1"/>
          <p:nvPr/>
        </p:nvSpPr>
        <p:spPr>
          <a:xfrm>
            <a:off x="9482328" y="3200400"/>
            <a:ext cx="1828800" cy="228600"/>
          </a:xfrm>
          <a:prstGeom prst="rect">
            <a:avLst/>
          </a:prstGeom>
          <a:noFill/>
        </p:spPr>
        <p:txBody>
          <a:bodyPr wrap="square" lIns="0" rIns="0" tIns="0" bIns="0" anchor="t">
            <a:spAutoFit/>
          </a:bodyPr>
          <a:lstStyle/>
          <a:p>
            <a:pPr algn="l"/>
            <a:r>
              <a:rPr sz="1100" b="1">
                <a:solidFill>
                  <a:srgbClr val="66746F"/>
                </a:solidFill>
                <a:latin typeface="Aptos"/>
              </a:rPr>
              <a:t>After 180 s</a:t>
            </a:r>
          </a:p>
        </p:txBody>
      </p:sp>
      <p:sp>
        <p:nvSpPr>
          <p:cNvPr id="29" name="Rounded Rectangle 28"/>
          <p:cNvSpPr/>
          <p:nvPr/>
        </p:nvSpPr>
        <p:spPr>
          <a:xfrm>
            <a:off x="502920" y="4251960"/>
            <a:ext cx="2514600" cy="105156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4251960"/>
            <a:ext cx="73152" cy="105156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4407408"/>
            <a:ext cx="2221992" cy="411480"/>
          </a:xfrm>
          <a:prstGeom prst="rect">
            <a:avLst/>
          </a:prstGeom>
          <a:noFill/>
        </p:spPr>
        <p:txBody>
          <a:bodyPr wrap="square" lIns="0" rIns="0" tIns="0" bIns="0" anchor="t">
            <a:spAutoFit/>
          </a:bodyPr>
          <a:lstStyle/>
          <a:p>
            <a:pPr algn="l"/>
            <a:r>
              <a:rPr sz="2400" b="1">
                <a:solidFill>
                  <a:srgbClr val="12231F"/>
                </a:solidFill>
                <a:latin typeface="Aptos"/>
              </a:rPr>
              <a:t>5,699</a:t>
            </a:r>
          </a:p>
        </p:txBody>
      </p:sp>
      <p:sp>
        <p:nvSpPr>
          <p:cNvPr id="32" name="TextBox 31"/>
          <p:cNvSpPr txBox="1"/>
          <p:nvPr/>
        </p:nvSpPr>
        <p:spPr>
          <a:xfrm>
            <a:off x="704088" y="4873752"/>
            <a:ext cx="2221992" cy="246888"/>
          </a:xfrm>
          <a:prstGeom prst="rect">
            <a:avLst/>
          </a:prstGeom>
          <a:noFill/>
        </p:spPr>
        <p:txBody>
          <a:bodyPr wrap="square" lIns="0" rIns="0" tIns="0" bIns="0" anchor="t">
            <a:spAutoFit/>
          </a:bodyPr>
          <a:lstStyle/>
          <a:p>
            <a:pPr algn="l"/>
            <a:r>
              <a:rPr sz="1000" b="1">
                <a:solidFill>
                  <a:srgbClr val="66746F"/>
                </a:solidFill>
                <a:latin typeface="Aptos"/>
              </a:rPr>
              <a:t>HTTP REQUESTS</a:t>
            </a:r>
          </a:p>
        </p:txBody>
      </p:sp>
      <p:sp>
        <p:nvSpPr>
          <p:cNvPr id="33" name="Rounded Rectangle 32"/>
          <p:cNvSpPr/>
          <p:nvPr/>
        </p:nvSpPr>
        <p:spPr>
          <a:xfrm>
            <a:off x="3246120" y="4251960"/>
            <a:ext cx="2514600" cy="105156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6120" y="4251960"/>
            <a:ext cx="73152" cy="105156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47288" y="4407408"/>
            <a:ext cx="2221992" cy="411480"/>
          </a:xfrm>
          <a:prstGeom prst="rect">
            <a:avLst/>
          </a:prstGeom>
          <a:noFill/>
        </p:spPr>
        <p:txBody>
          <a:bodyPr wrap="square" lIns="0" rIns="0" tIns="0" bIns="0" anchor="t">
            <a:spAutoFit/>
          </a:bodyPr>
          <a:lstStyle/>
          <a:p>
            <a:pPr algn="l"/>
            <a:r>
              <a:rPr sz="2400" b="1">
                <a:solidFill>
                  <a:srgbClr val="12231F"/>
                </a:solidFill>
                <a:latin typeface="Aptos"/>
              </a:rPr>
              <a:t>0%</a:t>
            </a:r>
          </a:p>
        </p:txBody>
      </p:sp>
      <p:sp>
        <p:nvSpPr>
          <p:cNvPr id="36" name="TextBox 35"/>
          <p:cNvSpPr txBox="1"/>
          <p:nvPr/>
        </p:nvSpPr>
        <p:spPr>
          <a:xfrm>
            <a:off x="3447288" y="4873752"/>
            <a:ext cx="2221992" cy="246888"/>
          </a:xfrm>
          <a:prstGeom prst="rect">
            <a:avLst/>
          </a:prstGeom>
          <a:noFill/>
        </p:spPr>
        <p:txBody>
          <a:bodyPr wrap="square" lIns="0" rIns="0" tIns="0" bIns="0" anchor="t">
            <a:spAutoFit/>
          </a:bodyPr>
          <a:lstStyle/>
          <a:p>
            <a:pPr algn="l"/>
            <a:r>
              <a:rPr sz="1000" b="1">
                <a:solidFill>
                  <a:srgbClr val="66746F"/>
                </a:solidFill>
                <a:latin typeface="Aptos"/>
              </a:rPr>
              <a:t>FAILED REQUESTS</a:t>
            </a:r>
          </a:p>
        </p:txBody>
      </p:sp>
      <p:sp>
        <p:nvSpPr>
          <p:cNvPr id="37" name="Rounded Rectangle 36"/>
          <p:cNvSpPr/>
          <p:nvPr/>
        </p:nvSpPr>
        <p:spPr>
          <a:xfrm>
            <a:off x="5989320" y="4251960"/>
            <a:ext cx="2514600" cy="105156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89320" y="4251960"/>
            <a:ext cx="73152" cy="1051560"/>
          </a:xfrm>
          <a:prstGeom prst="rect">
            <a:avLst/>
          </a:prstGeom>
          <a:solidFill>
            <a:srgbClr val="4864B6"/>
          </a:solidFill>
          <a:ln>
            <a:solidFill>
              <a:srgbClr val="486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90488" y="4407408"/>
            <a:ext cx="2221992" cy="411480"/>
          </a:xfrm>
          <a:prstGeom prst="rect">
            <a:avLst/>
          </a:prstGeom>
          <a:noFill/>
        </p:spPr>
        <p:txBody>
          <a:bodyPr wrap="square" lIns="0" rIns="0" tIns="0" bIns="0" anchor="t">
            <a:spAutoFit/>
          </a:bodyPr>
          <a:lstStyle/>
          <a:p>
            <a:pPr algn="l"/>
            <a:r>
              <a:rPr sz="2400" b="1">
                <a:solidFill>
                  <a:srgbClr val="12231F"/>
                </a:solidFill>
                <a:latin typeface="Aptos"/>
              </a:rPr>
              <a:t>403.98 ms</a:t>
            </a:r>
          </a:p>
        </p:txBody>
      </p:sp>
      <p:sp>
        <p:nvSpPr>
          <p:cNvPr id="40" name="TextBox 39"/>
          <p:cNvSpPr txBox="1"/>
          <p:nvPr/>
        </p:nvSpPr>
        <p:spPr>
          <a:xfrm>
            <a:off x="6190488" y="4873752"/>
            <a:ext cx="2221992" cy="246888"/>
          </a:xfrm>
          <a:prstGeom prst="rect">
            <a:avLst/>
          </a:prstGeom>
          <a:noFill/>
        </p:spPr>
        <p:txBody>
          <a:bodyPr wrap="square" lIns="0" rIns="0" tIns="0" bIns="0" anchor="t">
            <a:spAutoFit/>
          </a:bodyPr>
          <a:lstStyle/>
          <a:p>
            <a:pPr algn="l"/>
            <a:r>
              <a:rPr sz="1000" b="1">
                <a:solidFill>
                  <a:srgbClr val="66746F"/>
                </a:solidFill>
                <a:latin typeface="Aptos"/>
              </a:rPr>
              <a:t>P95 RESPONSE TIME</a:t>
            </a:r>
          </a:p>
        </p:txBody>
      </p:sp>
      <p:sp>
        <p:nvSpPr>
          <p:cNvPr id="41" name="Rounded Rectangle 40"/>
          <p:cNvSpPr/>
          <p:nvPr/>
        </p:nvSpPr>
        <p:spPr>
          <a:xfrm>
            <a:off x="8732520" y="4251960"/>
            <a:ext cx="2514600" cy="105156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732520" y="4251960"/>
            <a:ext cx="73152" cy="1051560"/>
          </a:xfrm>
          <a:prstGeom prst="rect">
            <a:avLst/>
          </a:prstGeom>
          <a:solidFill>
            <a:srgbClr val="DC972C"/>
          </a:solidFill>
          <a:ln>
            <a:solidFill>
              <a:srgbClr val="DC97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33688" y="4407408"/>
            <a:ext cx="2221992" cy="411480"/>
          </a:xfrm>
          <a:prstGeom prst="rect">
            <a:avLst/>
          </a:prstGeom>
          <a:noFill/>
        </p:spPr>
        <p:txBody>
          <a:bodyPr wrap="square" lIns="0" rIns="0" tIns="0" bIns="0" anchor="t">
            <a:spAutoFit/>
          </a:bodyPr>
          <a:lstStyle/>
          <a:p>
            <a:pPr algn="l"/>
            <a:r>
              <a:rPr sz="2400" b="1">
                <a:solidFill>
                  <a:srgbClr val="12231F"/>
                </a:solidFill>
                <a:latin typeface="Aptos"/>
              </a:rPr>
              <a:t>43.7/s</a:t>
            </a:r>
          </a:p>
        </p:txBody>
      </p:sp>
      <p:sp>
        <p:nvSpPr>
          <p:cNvPr id="44" name="TextBox 43"/>
          <p:cNvSpPr txBox="1"/>
          <p:nvPr/>
        </p:nvSpPr>
        <p:spPr>
          <a:xfrm>
            <a:off x="8933688" y="4873752"/>
            <a:ext cx="2221992" cy="246888"/>
          </a:xfrm>
          <a:prstGeom prst="rect">
            <a:avLst/>
          </a:prstGeom>
          <a:noFill/>
        </p:spPr>
        <p:txBody>
          <a:bodyPr wrap="square" lIns="0" rIns="0" tIns="0" bIns="0" anchor="t">
            <a:spAutoFit/>
          </a:bodyPr>
          <a:lstStyle/>
          <a:p>
            <a:pPr algn="l"/>
            <a:r>
              <a:rPr sz="1000" b="1">
                <a:solidFill>
                  <a:srgbClr val="66746F"/>
                </a:solidFill>
                <a:latin typeface="Aptos"/>
              </a:rPr>
              <a:t>REQUEST RATE</a:t>
            </a:r>
          </a:p>
        </p:txBody>
      </p:sp>
      <p:sp>
        <p:nvSpPr>
          <p:cNvPr id="45" name="TextBox 44"/>
          <p:cNvSpPr txBox="1"/>
          <p:nvPr/>
        </p:nvSpPr>
        <p:spPr>
          <a:xfrm>
            <a:off x="530352" y="5650992"/>
            <a:ext cx="5943600" cy="274320"/>
          </a:xfrm>
          <a:prstGeom prst="rect">
            <a:avLst/>
          </a:prstGeom>
          <a:noFill/>
        </p:spPr>
        <p:txBody>
          <a:bodyPr wrap="square" lIns="0" rIns="0" tIns="0" bIns="0" anchor="t">
            <a:spAutoFit/>
          </a:bodyPr>
          <a:lstStyle/>
          <a:p>
            <a:pPr algn="l"/>
            <a:r>
              <a:rPr sz="1100" b="0">
                <a:solidFill>
                  <a:srgbClr val="66746F"/>
                </a:solidFill>
                <a:latin typeface="Aptos"/>
              </a:rPr>
              <a:t>Measured with a bounded k6 run at 30 maximum virtual users.</a:t>
            </a:r>
          </a:p>
        </p:txBody>
      </p:sp>
      <p:sp>
        <p:nvSpPr>
          <p:cNvPr id="46" name="TextBox 45"/>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66746F"/>
                </a:solidFill>
                <a:latin typeface="Aptos"/>
              </a:rPr>
              <a:t>STUDENT TASK MANAGER  •  CLOUD COMPUTING MINI PROJECT</a:t>
            </a:r>
          </a:p>
        </p:txBody>
      </p:sp>
      <p:sp>
        <p:nvSpPr>
          <p:cNvPr id="47" name="TextBox 46"/>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66746F"/>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B18"/>
        </a:solidFill>
        <a:effectLst/>
      </p:bgPr>
    </p:bg>
    <p:spTree>
      <p:nvGrpSpPr>
        <p:cNvPr id="1" name=""/>
        <p:cNvGrpSpPr/>
        <p:nvPr/>
      </p:nvGrpSpPr>
      <p:grpSpPr/>
      <p:sp>
        <p:nvSpPr>
          <p:cNvPr id="2" name="TextBox 1"/>
          <p:cNvSpPr txBox="1"/>
          <p:nvPr/>
        </p:nvSpPr>
        <p:spPr>
          <a:xfrm>
            <a:off x="502920" y="393192"/>
            <a:ext cx="502920" cy="320040"/>
          </a:xfrm>
          <a:prstGeom prst="rect">
            <a:avLst/>
          </a:prstGeom>
          <a:noFill/>
        </p:spPr>
        <p:txBody>
          <a:bodyPr wrap="square" lIns="0" rIns="0" tIns="0" bIns="0" anchor="t">
            <a:spAutoFit/>
          </a:bodyPr>
          <a:lstStyle/>
          <a:p>
            <a:pPr algn="l"/>
            <a:r>
              <a:rPr sz="1100" b="1">
                <a:solidFill>
                  <a:srgbClr val="BCECDD"/>
                </a:solidFill>
                <a:latin typeface="Aptos"/>
              </a:rPr>
              <a:t>06</a:t>
            </a:r>
          </a:p>
        </p:txBody>
      </p:sp>
      <p:sp>
        <p:nvSpPr>
          <p:cNvPr id="3" name="TextBox 2"/>
          <p:cNvSpPr txBox="1"/>
          <p:nvPr/>
        </p:nvSpPr>
        <p:spPr>
          <a:xfrm>
            <a:off x="987552" y="393192"/>
            <a:ext cx="4389120" cy="320040"/>
          </a:xfrm>
          <a:prstGeom prst="rect">
            <a:avLst/>
          </a:prstGeom>
          <a:noFill/>
        </p:spPr>
        <p:txBody>
          <a:bodyPr wrap="square" lIns="0" rIns="0" tIns="0" bIns="0" anchor="t">
            <a:spAutoFit/>
          </a:bodyPr>
          <a:lstStyle/>
          <a:p>
            <a:pPr algn="l"/>
            <a:r>
              <a:rPr sz="1100" b="1">
                <a:solidFill>
                  <a:srgbClr val="BCECDD"/>
                </a:solidFill>
                <a:latin typeface="Aptos"/>
              </a:rPr>
              <a:t>SELF-HEALING</a:t>
            </a:r>
          </a:p>
        </p:txBody>
      </p:sp>
      <p:sp>
        <p:nvSpPr>
          <p:cNvPr id="4" name="TextBox 3"/>
          <p:cNvSpPr txBox="1"/>
          <p:nvPr/>
        </p:nvSpPr>
        <p:spPr>
          <a:xfrm>
            <a:off x="502920" y="804672"/>
            <a:ext cx="11064240" cy="640080"/>
          </a:xfrm>
          <a:prstGeom prst="rect">
            <a:avLst/>
          </a:prstGeom>
          <a:noFill/>
        </p:spPr>
        <p:txBody>
          <a:bodyPr wrap="square" lIns="0" rIns="0" tIns="0" bIns="0" anchor="t">
            <a:spAutoFit/>
          </a:bodyPr>
          <a:lstStyle/>
          <a:p>
            <a:pPr algn="l"/>
            <a:r>
              <a:rPr sz="3000" b="1">
                <a:solidFill>
                  <a:srgbClr val="FFFFFF"/>
                </a:solidFill>
                <a:latin typeface="Aptos"/>
              </a:rPr>
              <a:t>Kubernetes restores the desired state</a:t>
            </a:r>
          </a:p>
        </p:txBody>
      </p:sp>
      <p:sp>
        <p:nvSpPr>
          <p:cNvPr id="5" name="TextBox 4"/>
          <p:cNvSpPr txBox="1"/>
          <p:nvPr/>
        </p:nvSpPr>
        <p:spPr>
          <a:xfrm>
            <a:off x="530352" y="1417320"/>
            <a:ext cx="10789920" cy="411480"/>
          </a:xfrm>
          <a:prstGeom prst="rect">
            <a:avLst/>
          </a:prstGeom>
          <a:noFill/>
        </p:spPr>
        <p:txBody>
          <a:bodyPr wrap="square" lIns="0" rIns="0" tIns="0" bIns="0" anchor="t">
            <a:spAutoFit/>
          </a:bodyPr>
          <a:lstStyle/>
          <a:p>
            <a:pPr algn="l"/>
            <a:r>
              <a:rPr sz="1400" b="0">
                <a:solidFill>
                  <a:srgbClr val="BCECDD"/>
                </a:solidFill>
                <a:latin typeface="Aptos"/>
              </a:rPr>
              <a:t>Two controlled tests proved replacement and health-probe recovery.</a:t>
            </a:r>
          </a:p>
        </p:txBody>
      </p:sp>
      <p:sp>
        <p:nvSpPr>
          <p:cNvPr id="6" name="Rounded Rectangle 5"/>
          <p:cNvSpPr/>
          <p:nvPr/>
        </p:nvSpPr>
        <p:spPr>
          <a:xfrm>
            <a:off x="502920" y="1947672"/>
            <a:ext cx="5413248" cy="361188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2267712"/>
            <a:ext cx="868680" cy="347472"/>
          </a:xfrm>
          <a:prstGeom prst="roundRect">
            <a:avLst/>
          </a:prstGeom>
          <a:solidFill>
            <a:srgbClr val="BCECDD"/>
          </a:solidFill>
          <a:ln>
            <a:solidFill>
              <a:srgbClr val="BCE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281428"/>
            <a:ext cx="868680" cy="274320"/>
          </a:xfrm>
          <a:prstGeom prst="rect">
            <a:avLst/>
          </a:prstGeom>
          <a:noFill/>
        </p:spPr>
        <p:txBody>
          <a:bodyPr wrap="square" lIns="0" rIns="0" tIns="0" bIns="0" anchor="ctr">
            <a:spAutoFit/>
          </a:bodyPr>
          <a:lstStyle/>
          <a:p>
            <a:pPr algn="ctr"/>
            <a:r>
              <a:rPr sz="1000" b="1">
                <a:solidFill>
                  <a:srgbClr val="277E63"/>
                </a:solidFill>
                <a:latin typeface="Aptos"/>
              </a:rPr>
              <a:t>TEST 1</a:t>
            </a:r>
          </a:p>
        </p:txBody>
      </p:sp>
      <p:sp>
        <p:nvSpPr>
          <p:cNvPr id="9" name="TextBox 8"/>
          <p:cNvSpPr txBox="1"/>
          <p:nvPr/>
        </p:nvSpPr>
        <p:spPr>
          <a:xfrm>
            <a:off x="804672" y="2761488"/>
            <a:ext cx="4114800" cy="411480"/>
          </a:xfrm>
          <a:prstGeom prst="rect">
            <a:avLst/>
          </a:prstGeom>
          <a:noFill/>
        </p:spPr>
        <p:txBody>
          <a:bodyPr wrap="square" lIns="0" rIns="0" tIns="0" bIns="0" anchor="t">
            <a:spAutoFit/>
          </a:bodyPr>
          <a:lstStyle/>
          <a:p>
            <a:pPr algn="l"/>
            <a:r>
              <a:rPr sz="2300" b="1">
                <a:solidFill>
                  <a:srgbClr val="FFFFFF"/>
                </a:solidFill>
                <a:latin typeface="Aptos"/>
              </a:rPr>
              <a:t>Pod deletion</a:t>
            </a:r>
          </a:p>
        </p:txBody>
      </p:sp>
      <p:sp>
        <p:nvSpPr>
          <p:cNvPr id="10" name="TextBox 9"/>
          <p:cNvSpPr txBox="1"/>
          <p:nvPr/>
        </p:nvSpPr>
        <p:spPr>
          <a:xfrm>
            <a:off x="804672" y="3364992"/>
            <a:ext cx="4480560" cy="1737360"/>
          </a:xfrm>
          <a:prstGeom prst="rect">
            <a:avLst/>
          </a:prstGeom>
          <a:noFill/>
        </p:spPr>
        <p:txBody>
          <a:bodyPr wrap="square" lIns="0" rIns="0" tIns="0" bIns="0">
            <a:spAutoFit/>
          </a:bodyPr>
          <a:lstStyle/>
          <a:p>
            <a:pPr>
              <a:lnSpc>
                <a:spcPct val="105000"/>
              </a:lnSpc>
              <a:spcAft>
                <a:spcPts val="1100"/>
              </a:spcAft>
            </a:pPr>
            <a:r>
              <a:rPr sz="1100">
                <a:solidFill>
                  <a:srgbClr val="BCECDD"/>
                </a:solidFill>
                <a:latin typeface="Aptos"/>
              </a:rPr>
              <a:t>●  </a:t>
            </a:r>
            <a:r>
              <a:rPr sz="1400">
                <a:solidFill>
                  <a:srgbClr val="DEECE6"/>
                </a:solidFill>
                <a:latin typeface="Aptos"/>
              </a:rPr>
              <a:t>Running API pod was deleted</a:t>
            </a:r>
          </a:p>
          <a:p>
            <a:pPr>
              <a:lnSpc>
                <a:spcPct val="105000"/>
              </a:lnSpc>
              <a:spcAft>
                <a:spcPts val="1100"/>
              </a:spcAft>
            </a:pPr>
            <a:r>
              <a:rPr sz="1100">
                <a:solidFill>
                  <a:srgbClr val="BCECDD"/>
                </a:solidFill>
                <a:latin typeface="Aptos"/>
              </a:rPr>
              <a:t>●  </a:t>
            </a:r>
            <a:r>
              <a:rPr sz="1400">
                <a:solidFill>
                  <a:srgbClr val="DEECE6"/>
                </a:solidFill>
                <a:latin typeface="Aptos"/>
              </a:rPr>
              <a:t>Deployment detected a missing replica</a:t>
            </a:r>
          </a:p>
          <a:p>
            <a:pPr>
              <a:lnSpc>
                <a:spcPct val="105000"/>
              </a:lnSpc>
              <a:spcAft>
                <a:spcPts val="1100"/>
              </a:spcAft>
            </a:pPr>
            <a:r>
              <a:rPr sz="1100">
                <a:solidFill>
                  <a:srgbClr val="BCECDD"/>
                </a:solidFill>
                <a:latin typeface="Aptos"/>
              </a:rPr>
              <a:t>●  </a:t>
            </a:r>
            <a:r>
              <a:rPr sz="1400">
                <a:solidFill>
                  <a:srgbClr val="DEECE6"/>
                </a:solidFill>
                <a:latin typeface="Aptos"/>
              </a:rPr>
              <a:t>Replacement pod reached 1/1 Running</a:t>
            </a:r>
          </a:p>
          <a:p>
            <a:pPr>
              <a:lnSpc>
                <a:spcPct val="105000"/>
              </a:lnSpc>
              <a:spcAft>
                <a:spcPts val="1100"/>
              </a:spcAft>
            </a:pPr>
            <a:r>
              <a:rPr sz="1100">
                <a:solidFill>
                  <a:srgbClr val="BCECDD"/>
                </a:solidFill>
                <a:latin typeface="Aptos"/>
              </a:rPr>
              <a:t>●  </a:t>
            </a:r>
            <a:r>
              <a:rPr sz="1400">
                <a:solidFill>
                  <a:srgbClr val="DEECE6"/>
                </a:solidFill>
                <a:latin typeface="Aptos"/>
              </a:rPr>
              <a:t>Deployment remained available</a:t>
            </a:r>
          </a:p>
        </p:txBody>
      </p:sp>
      <p:sp>
        <p:nvSpPr>
          <p:cNvPr id="11" name="Rounded Rectangle 10"/>
          <p:cNvSpPr/>
          <p:nvPr/>
        </p:nvSpPr>
        <p:spPr>
          <a:xfrm>
            <a:off x="6281928" y="1947672"/>
            <a:ext cx="5376672" cy="361188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0" y="2267712"/>
            <a:ext cx="868680" cy="347472"/>
          </a:xfrm>
          <a:prstGeom prst="roundRect">
            <a:avLst/>
          </a:prstGeom>
          <a:solidFill>
            <a:srgbClr val="FCF1DA"/>
          </a:solidFill>
          <a:ln>
            <a:solidFill>
              <a:srgbClr val="FCF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281428"/>
            <a:ext cx="868680" cy="274320"/>
          </a:xfrm>
          <a:prstGeom prst="rect">
            <a:avLst/>
          </a:prstGeom>
          <a:noFill/>
        </p:spPr>
        <p:txBody>
          <a:bodyPr wrap="square" lIns="0" rIns="0" tIns="0" bIns="0" anchor="ctr">
            <a:spAutoFit/>
          </a:bodyPr>
          <a:lstStyle/>
          <a:p>
            <a:pPr algn="ctr"/>
            <a:r>
              <a:rPr sz="1000" b="1">
                <a:solidFill>
                  <a:srgbClr val="DC972C"/>
                </a:solidFill>
                <a:latin typeface="Aptos"/>
              </a:rPr>
              <a:t>TEST 2</a:t>
            </a:r>
          </a:p>
        </p:txBody>
      </p:sp>
      <p:sp>
        <p:nvSpPr>
          <p:cNvPr id="14" name="TextBox 13"/>
          <p:cNvSpPr txBox="1"/>
          <p:nvPr/>
        </p:nvSpPr>
        <p:spPr>
          <a:xfrm>
            <a:off x="6583680" y="2761488"/>
            <a:ext cx="4114800" cy="411480"/>
          </a:xfrm>
          <a:prstGeom prst="rect">
            <a:avLst/>
          </a:prstGeom>
          <a:noFill/>
        </p:spPr>
        <p:txBody>
          <a:bodyPr wrap="square" lIns="0" rIns="0" tIns="0" bIns="0" anchor="t">
            <a:spAutoFit/>
          </a:bodyPr>
          <a:lstStyle/>
          <a:p>
            <a:pPr algn="l"/>
            <a:r>
              <a:rPr sz="2300" b="1">
                <a:solidFill>
                  <a:srgbClr val="FFFFFF"/>
                </a:solidFill>
                <a:latin typeface="Aptos"/>
              </a:rPr>
              <a:t>Liveness failure</a:t>
            </a:r>
          </a:p>
        </p:txBody>
      </p:sp>
      <p:sp>
        <p:nvSpPr>
          <p:cNvPr id="15" name="TextBox 14"/>
          <p:cNvSpPr txBox="1"/>
          <p:nvPr/>
        </p:nvSpPr>
        <p:spPr>
          <a:xfrm>
            <a:off x="6583680" y="3364992"/>
            <a:ext cx="4434840" cy="1737360"/>
          </a:xfrm>
          <a:prstGeom prst="rect">
            <a:avLst/>
          </a:prstGeom>
          <a:noFill/>
        </p:spPr>
        <p:txBody>
          <a:bodyPr wrap="square" lIns="0" rIns="0" tIns="0" bIns="0">
            <a:spAutoFit/>
          </a:bodyPr>
          <a:lstStyle/>
          <a:p>
            <a:pPr>
              <a:lnSpc>
                <a:spcPct val="105000"/>
              </a:lnSpc>
              <a:spcAft>
                <a:spcPts val="1100"/>
              </a:spcAft>
            </a:pPr>
            <a:r>
              <a:rPr sz="1100">
                <a:solidFill>
                  <a:srgbClr val="BCECDD"/>
                </a:solidFill>
                <a:latin typeface="Aptos"/>
              </a:rPr>
              <a:t>●  </a:t>
            </a:r>
            <a:r>
              <a:rPr sz="1400">
                <a:solidFill>
                  <a:srgbClr val="DEECE6"/>
                </a:solidFill>
                <a:latin typeface="Aptos"/>
              </a:rPr>
              <a:t>Java process was paused intentionally</a:t>
            </a:r>
          </a:p>
          <a:p>
            <a:pPr>
              <a:lnSpc>
                <a:spcPct val="105000"/>
              </a:lnSpc>
              <a:spcAft>
                <a:spcPts val="1100"/>
              </a:spcAft>
            </a:pPr>
            <a:r>
              <a:rPr sz="1100">
                <a:solidFill>
                  <a:srgbClr val="BCECDD"/>
                </a:solidFill>
                <a:latin typeface="Aptos"/>
              </a:rPr>
              <a:t>●  </a:t>
            </a:r>
            <a:r>
              <a:rPr sz="1400">
                <a:solidFill>
                  <a:srgbClr val="DEECE6"/>
                </a:solidFill>
                <a:latin typeface="Aptos"/>
              </a:rPr>
              <a:t>Liveness probe failed three times</a:t>
            </a:r>
          </a:p>
          <a:p>
            <a:pPr>
              <a:lnSpc>
                <a:spcPct val="105000"/>
              </a:lnSpc>
              <a:spcAft>
                <a:spcPts val="1100"/>
              </a:spcAft>
            </a:pPr>
            <a:r>
              <a:rPr sz="1100">
                <a:solidFill>
                  <a:srgbClr val="BCECDD"/>
                </a:solidFill>
                <a:latin typeface="Aptos"/>
              </a:rPr>
              <a:t>●  </a:t>
            </a:r>
            <a:r>
              <a:rPr sz="1400">
                <a:solidFill>
                  <a:srgbClr val="DEECE6"/>
                </a:solidFill>
                <a:latin typeface="Aptos"/>
              </a:rPr>
              <a:t>Kubernetes restarted the container</a:t>
            </a:r>
          </a:p>
          <a:p>
            <a:pPr>
              <a:lnSpc>
                <a:spcPct val="105000"/>
              </a:lnSpc>
              <a:spcAft>
                <a:spcPts val="1100"/>
              </a:spcAft>
            </a:pPr>
            <a:r>
              <a:rPr sz="1100">
                <a:solidFill>
                  <a:srgbClr val="BCECDD"/>
                </a:solidFill>
                <a:latin typeface="Aptos"/>
              </a:rPr>
              <a:t>●  </a:t>
            </a:r>
            <a:r>
              <a:rPr sz="1400">
                <a:solidFill>
                  <a:srgbClr val="DEECE6"/>
                </a:solidFill>
                <a:latin typeface="Aptos"/>
              </a:rPr>
              <a:t>Readiness returned UP</a:t>
            </a:r>
          </a:p>
        </p:txBody>
      </p:sp>
      <p:sp>
        <p:nvSpPr>
          <p:cNvPr id="16" name="Rounded Rectangle 15"/>
          <p:cNvSpPr/>
          <p:nvPr/>
        </p:nvSpPr>
        <p:spPr>
          <a:xfrm>
            <a:off x="502920" y="5797296"/>
            <a:ext cx="11155680" cy="384048"/>
          </a:xfrm>
          <a:prstGeom prst="roundRect">
            <a:avLst/>
          </a:prstGeom>
          <a:solidFill>
            <a:srgbClr val="344841"/>
          </a:solidFill>
          <a:ln>
            <a:solidFill>
              <a:srgbClr val="344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861304"/>
            <a:ext cx="10789920" cy="201168"/>
          </a:xfrm>
          <a:prstGeom prst="rect">
            <a:avLst/>
          </a:prstGeom>
          <a:noFill/>
        </p:spPr>
        <p:txBody>
          <a:bodyPr wrap="square" lIns="0" rIns="0" tIns="0" bIns="0" anchor="t">
            <a:spAutoFit/>
          </a:bodyPr>
          <a:lstStyle/>
          <a:p>
            <a:pPr algn="ctr"/>
            <a:r>
              <a:rPr sz="1000" b="1">
                <a:solidFill>
                  <a:srgbClr val="CFDFD8"/>
                </a:solidFill>
                <a:latin typeface="Aptos"/>
              </a:rPr>
              <a:t>Scope: pod/container recovery on one EC2 node — not EC2 host failover.</a:t>
            </a:r>
          </a:p>
        </p:txBody>
      </p:sp>
      <p:sp>
        <p:nvSpPr>
          <p:cNvPr id="18" name="TextBox 17"/>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91A79E"/>
                </a:solidFill>
                <a:latin typeface="Aptos"/>
              </a:rPr>
              <a:t>STUDENT TASK MANAGER  •  CLOUD COMPUTING MINI PROJECT</a:t>
            </a:r>
          </a:p>
        </p:txBody>
      </p:sp>
      <p:sp>
        <p:nvSpPr>
          <p:cNvPr id="19" name="TextBox 18"/>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91A79E"/>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6"/>
        </a:solidFill>
        <a:effectLst/>
      </p:bgPr>
    </p:bg>
    <p:spTree>
      <p:nvGrpSpPr>
        <p:cNvPr id="1" name=""/>
        <p:cNvGrpSpPr/>
        <p:nvPr/>
      </p:nvGrpSpPr>
      <p:grpSpPr/>
      <p:sp>
        <p:nvSpPr>
          <p:cNvPr id="2" name="TextBox 1"/>
          <p:cNvSpPr txBox="1"/>
          <p:nvPr/>
        </p:nvSpPr>
        <p:spPr>
          <a:xfrm>
            <a:off x="502920" y="393192"/>
            <a:ext cx="502920" cy="320040"/>
          </a:xfrm>
          <a:prstGeom prst="rect">
            <a:avLst/>
          </a:prstGeom>
          <a:noFill/>
        </p:spPr>
        <p:txBody>
          <a:bodyPr wrap="square" lIns="0" rIns="0" tIns="0" bIns="0" anchor="t">
            <a:spAutoFit/>
          </a:bodyPr>
          <a:lstStyle/>
          <a:p>
            <a:pPr algn="l"/>
            <a:r>
              <a:rPr sz="1100" b="1">
                <a:solidFill>
                  <a:srgbClr val="277E63"/>
                </a:solidFill>
                <a:latin typeface="Aptos"/>
              </a:rPr>
              <a:t>07</a:t>
            </a:r>
          </a:p>
        </p:txBody>
      </p:sp>
      <p:sp>
        <p:nvSpPr>
          <p:cNvPr id="3" name="TextBox 2"/>
          <p:cNvSpPr txBox="1"/>
          <p:nvPr/>
        </p:nvSpPr>
        <p:spPr>
          <a:xfrm>
            <a:off x="987552" y="393192"/>
            <a:ext cx="4389120" cy="320040"/>
          </a:xfrm>
          <a:prstGeom prst="rect">
            <a:avLst/>
          </a:prstGeom>
          <a:noFill/>
        </p:spPr>
        <p:txBody>
          <a:bodyPr wrap="square" lIns="0" rIns="0" tIns="0" bIns="0" anchor="t">
            <a:spAutoFit/>
          </a:bodyPr>
          <a:lstStyle/>
          <a:p>
            <a:pPr algn="l"/>
            <a:r>
              <a:rPr sz="1100" b="1">
                <a:solidFill>
                  <a:srgbClr val="277E63"/>
                </a:solidFill>
                <a:latin typeface="Aptos"/>
              </a:rPr>
              <a:t>MONITORING</a:t>
            </a:r>
          </a:p>
        </p:txBody>
      </p:sp>
      <p:sp>
        <p:nvSpPr>
          <p:cNvPr id="4" name="TextBox 3"/>
          <p:cNvSpPr txBox="1"/>
          <p:nvPr/>
        </p:nvSpPr>
        <p:spPr>
          <a:xfrm>
            <a:off x="502920" y="804672"/>
            <a:ext cx="11064240" cy="640080"/>
          </a:xfrm>
          <a:prstGeom prst="rect">
            <a:avLst/>
          </a:prstGeom>
          <a:noFill/>
        </p:spPr>
        <p:txBody>
          <a:bodyPr wrap="square" lIns="0" rIns="0" tIns="0" bIns="0" anchor="t">
            <a:spAutoFit/>
          </a:bodyPr>
          <a:lstStyle/>
          <a:p>
            <a:pPr algn="l"/>
            <a:r>
              <a:rPr sz="3000" b="1">
                <a:solidFill>
                  <a:srgbClr val="12231F"/>
                </a:solidFill>
                <a:latin typeface="Aptos"/>
              </a:rPr>
              <a:t>Prometheus collects; Grafana explains</a:t>
            </a:r>
          </a:p>
        </p:txBody>
      </p:sp>
      <p:sp>
        <p:nvSpPr>
          <p:cNvPr id="5" name="Rounded Rectangle 4"/>
          <p:cNvSpPr/>
          <p:nvPr/>
        </p:nvSpPr>
        <p:spPr>
          <a:xfrm>
            <a:off x="502920" y="1856231"/>
            <a:ext cx="3657600" cy="4251960"/>
          </a:xfrm>
          <a:prstGeom prst="roundRect">
            <a:avLst/>
          </a:prstGeom>
          <a:solidFill>
            <a:srgbClr val="12231F"/>
          </a:solidFill>
          <a:ln>
            <a:solidFill>
              <a:srgbClr val="122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12848"/>
            <a:ext cx="1828800" cy="228600"/>
          </a:xfrm>
          <a:prstGeom prst="rect">
            <a:avLst/>
          </a:prstGeom>
          <a:noFill/>
        </p:spPr>
        <p:txBody>
          <a:bodyPr wrap="square" lIns="0" rIns="0" tIns="0" bIns="0" anchor="t">
            <a:spAutoFit/>
          </a:bodyPr>
          <a:lstStyle/>
          <a:p>
            <a:pPr algn="l"/>
            <a:r>
              <a:rPr sz="1000" b="1">
                <a:solidFill>
                  <a:srgbClr val="BCECDD"/>
                </a:solidFill>
                <a:latin typeface="Aptos"/>
              </a:rPr>
              <a:t>LIVE PIPELINE</a:t>
            </a:r>
          </a:p>
        </p:txBody>
      </p:sp>
      <p:sp>
        <p:nvSpPr>
          <p:cNvPr id="7" name="Rounded Rectangle 6"/>
          <p:cNvSpPr/>
          <p:nvPr/>
        </p:nvSpPr>
        <p:spPr>
          <a:xfrm>
            <a:off x="822960" y="2743200"/>
            <a:ext cx="457200" cy="457200"/>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788920"/>
            <a:ext cx="457200" cy="246888"/>
          </a:xfrm>
          <a:prstGeom prst="rect">
            <a:avLst/>
          </a:prstGeom>
          <a:noFill/>
        </p:spPr>
        <p:txBody>
          <a:bodyPr wrap="square" lIns="0" rIns="0" tIns="0" bIns="0" anchor="t">
            <a:spAutoFit/>
          </a:bodyPr>
          <a:lstStyle/>
          <a:p>
            <a:pPr algn="ctr"/>
            <a:r>
              <a:rPr sz="1100" b="1">
                <a:solidFill>
                  <a:srgbClr val="FFFFFF"/>
                </a:solidFill>
                <a:latin typeface="Aptos"/>
              </a:rPr>
              <a:t>1</a:t>
            </a:r>
          </a:p>
        </p:txBody>
      </p:sp>
      <p:sp>
        <p:nvSpPr>
          <p:cNvPr id="9" name="TextBox 8"/>
          <p:cNvSpPr txBox="1"/>
          <p:nvPr/>
        </p:nvSpPr>
        <p:spPr>
          <a:xfrm>
            <a:off x="1490472" y="2724912"/>
            <a:ext cx="1920240" cy="274320"/>
          </a:xfrm>
          <a:prstGeom prst="rect">
            <a:avLst/>
          </a:prstGeom>
          <a:noFill/>
        </p:spPr>
        <p:txBody>
          <a:bodyPr wrap="square" lIns="0" rIns="0" tIns="0" bIns="0" anchor="t">
            <a:spAutoFit/>
          </a:bodyPr>
          <a:lstStyle/>
          <a:p>
            <a:pPr algn="l"/>
            <a:r>
              <a:rPr sz="1500" b="1">
                <a:solidFill>
                  <a:srgbClr val="FFFFFF"/>
                </a:solidFill>
                <a:latin typeface="Aptos"/>
              </a:rPr>
              <a:t>Spring Boot Actuator</a:t>
            </a:r>
          </a:p>
        </p:txBody>
      </p:sp>
      <p:sp>
        <p:nvSpPr>
          <p:cNvPr id="10" name="TextBox 9"/>
          <p:cNvSpPr txBox="1"/>
          <p:nvPr/>
        </p:nvSpPr>
        <p:spPr>
          <a:xfrm>
            <a:off x="1490472" y="3035808"/>
            <a:ext cx="1828800" cy="274320"/>
          </a:xfrm>
          <a:prstGeom prst="rect">
            <a:avLst/>
          </a:prstGeom>
          <a:noFill/>
        </p:spPr>
        <p:txBody>
          <a:bodyPr wrap="square" lIns="0" rIns="0" tIns="0" bIns="0" anchor="t">
            <a:spAutoFit/>
          </a:bodyPr>
          <a:lstStyle/>
          <a:p>
            <a:pPr algn="l"/>
            <a:r>
              <a:rPr sz="1000" b="0">
                <a:solidFill>
                  <a:srgbClr val="B6CCC4"/>
                </a:solidFill>
                <a:latin typeface="Aptos"/>
              </a:rPr>
              <a:t>API + JVM metrics</a:t>
            </a:r>
          </a:p>
        </p:txBody>
      </p:sp>
      <p:sp>
        <p:nvSpPr>
          <p:cNvPr id="11" name="Rounded Rectangle 10"/>
          <p:cNvSpPr/>
          <p:nvPr/>
        </p:nvSpPr>
        <p:spPr>
          <a:xfrm>
            <a:off x="822960" y="3749039"/>
            <a:ext cx="457200" cy="457200"/>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794759"/>
            <a:ext cx="457200" cy="246888"/>
          </a:xfrm>
          <a:prstGeom prst="rect">
            <a:avLst/>
          </a:prstGeom>
          <a:noFill/>
        </p:spPr>
        <p:txBody>
          <a:bodyPr wrap="square" lIns="0" rIns="0" tIns="0" bIns="0" anchor="t">
            <a:spAutoFit/>
          </a:bodyPr>
          <a:lstStyle/>
          <a:p>
            <a:pPr algn="ctr"/>
            <a:r>
              <a:rPr sz="1100" b="1">
                <a:solidFill>
                  <a:srgbClr val="FFFFFF"/>
                </a:solidFill>
                <a:latin typeface="Aptos"/>
              </a:rPr>
              <a:t>2</a:t>
            </a:r>
          </a:p>
        </p:txBody>
      </p:sp>
      <p:sp>
        <p:nvSpPr>
          <p:cNvPr id="13" name="TextBox 12"/>
          <p:cNvSpPr txBox="1"/>
          <p:nvPr/>
        </p:nvSpPr>
        <p:spPr>
          <a:xfrm>
            <a:off x="1490472" y="3730752"/>
            <a:ext cx="1920240" cy="274320"/>
          </a:xfrm>
          <a:prstGeom prst="rect">
            <a:avLst/>
          </a:prstGeom>
          <a:noFill/>
        </p:spPr>
        <p:txBody>
          <a:bodyPr wrap="square" lIns="0" rIns="0" tIns="0" bIns="0" anchor="t">
            <a:spAutoFit/>
          </a:bodyPr>
          <a:lstStyle/>
          <a:p>
            <a:pPr algn="l"/>
            <a:r>
              <a:rPr sz="1500" b="1">
                <a:solidFill>
                  <a:srgbClr val="FFFFFF"/>
                </a:solidFill>
                <a:latin typeface="Aptos"/>
              </a:rPr>
              <a:t>Prometheus</a:t>
            </a:r>
          </a:p>
        </p:txBody>
      </p:sp>
      <p:sp>
        <p:nvSpPr>
          <p:cNvPr id="14" name="TextBox 13"/>
          <p:cNvSpPr txBox="1"/>
          <p:nvPr/>
        </p:nvSpPr>
        <p:spPr>
          <a:xfrm>
            <a:off x="1490472" y="4041648"/>
            <a:ext cx="1828800" cy="274320"/>
          </a:xfrm>
          <a:prstGeom prst="rect">
            <a:avLst/>
          </a:prstGeom>
          <a:noFill/>
        </p:spPr>
        <p:txBody>
          <a:bodyPr wrap="square" lIns="0" rIns="0" tIns="0" bIns="0" anchor="t">
            <a:spAutoFit/>
          </a:bodyPr>
          <a:lstStyle/>
          <a:p>
            <a:pPr algn="l"/>
            <a:r>
              <a:rPr sz="1000" b="0">
                <a:solidFill>
                  <a:srgbClr val="B6CCC4"/>
                </a:solidFill>
                <a:latin typeface="Aptos"/>
              </a:rPr>
              <a:t>Scrape every 15 seconds</a:t>
            </a:r>
          </a:p>
        </p:txBody>
      </p:sp>
      <p:sp>
        <p:nvSpPr>
          <p:cNvPr id="15" name="Rounded Rectangle 14"/>
          <p:cNvSpPr/>
          <p:nvPr/>
        </p:nvSpPr>
        <p:spPr>
          <a:xfrm>
            <a:off x="822960" y="4754879"/>
            <a:ext cx="457200" cy="457200"/>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800599"/>
            <a:ext cx="457200" cy="246888"/>
          </a:xfrm>
          <a:prstGeom prst="rect">
            <a:avLst/>
          </a:prstGeom>
          <a:noFill/>
        </p:spPr>
        <p:txBody>
          <a:bodyPr wrap="square" lIns="0" rIns="0" tIns="0" bIns="0" anchor="t">
            <a:spAutoFit/>
          </a:bodyPr>
          <a:lstStyle/>
          <a:p>
            <a:pPr algn="ctr"/>
            <a:r>
              <a:rPr sz="1100" b="1">
                <a:solidFill>
                  <a:srgbClr val="FFFFFF"/>
                </a:solidFill>
                <a:latin typeface="Aptos"/>
              </a:rPr>
              <a:t>3</a:t>
            </a:r>
          </a:p>
        </p:txBody>
      </p:sp>
      <p:sp>
        <p:nvSpPr>
          <p:cNvPr id="17" name="TextBox 16"/>
          <p:cNvSpPr txBox="1"/>
          <p:nvPr/>
        </p:nvSpPr>
        <p:spPr>
          <a:xfrm>
            <a:off x="1490472" y="4736592"/>
            <a:ext cx="1920240" cy="274320"/>
          </a:xfrm>
          <a:prstGeom prst="rect">
            <a:avLst/>
          </a:prstGeom>
          <a:noFill/>
        </p:spPr>
        <p:txBody>
          <a:bodyPr wrap="square" lIns="0" rIns="0" tIns="0" bIns="0" anchor="t">
            <a:spAutoFit/>
          </a:bodyPr>
          <a:lstStyle/>
          <a:p>
            <a:pPr algn="l"/>
            <a:r>
              <a:rPr sz="1500" b="1">
                <a:solidFill>
                  <a:srgbClr val="FFFFFF"/>
                </a:solidFill>
                <a:latin typeface="Aptos"/>
              </a:rPr>
              <a:t>Grafana</a:t>
            </a:r>
          </a:p>
        </p:txBody>
      </p:sp>
      <p:sp>
        <p:nvSpPr>
          <p:cNvPr id="18" name="TextBox 17"/>
          <p:cNvSpPr txBox="1"/>
          <p:nvPr/>
        </p:nvSpPr>
        <p:spPr>
          <a:xfrm>
            <a:off x="1490472" y="5047488"/>
            <a:ext cx="1828800" cy="274320"/>
          </a:xfrm>
          <a:prstGeom prst="rect">
            <a:avLst/>
          </a:prstGeom>
          <a:noFill/>
        </p:spPr>
        <p:txBody>
          <a:bodyPr wrap="square" lIns="0" rIns="0" tIns="0" bIns="0" anchor="t">
            <a:spAutoFit/>
          </a:bodyPr>
          <a:lstStyle/>
          <a:p>
            <a:pPr algn="l"/>
            <a:r>
              <a:rPr sz="1000" b="0">
                <a:solidFill>
                  <a:srgbClr val="B6CCC4"/>
                </a:solidFill>
                <a:latin typeface="Aptos"/>
              </a:rPr>
              <a:t>Six-panel dashboard</a:t>
            </a:r>
          </a:p>
        </p:txBody>
      </p:sp>
      <p:sp>
        <p:nvSpPr>
          <p:cNvPr id="19" name="TextBox 18"/>
          <p:cNvSpPr txBox="1"/>
          <p:nvPr/>
        </p:nvSpPr>
        <p:spPr>
          <a:xfrm>
            <a:off x="822960" y="5532120"/>
            <a:ext cx="2788920" cy="384048"/>
          </a:xfrm>
          <a:prstGeom prst="rect">
            <a:avLst/>
          </a:prstGeom>
          <a:noFill/>
        </p:spPr>
        <p:txBody>
          <a:bodyPr wrap="square" lIns="0" rIns="0" tIns="0" bIns="0" anchor="t">
            <a:spAutoFit/>
          </a:bodyPr>
          <a:lstStyle/>
          <a:p>
            <a:pPr algn="l"/>
            <a:r>
              <a:rPr sz="1000" b="1">
                <a:solidFill>
                  <a:srgbClr val="BCECDD"/>
                </a:solidFill>
                <a:latin typeface="Aptos"/>
              </a:rPr>
              <a:t>Prometheus targets: API, Kubernetes state and Prometheus itself</a:t>
            </a:r>
          </a:p>
        </p:txBody>
      </p:sp>
      <p:sp>
        <p:nvSpPr>
          <p:cNvPr id="20" name="TextBox 19"/>
          <p:cNvSpPr txBox="1"/>
          <p:nvPr/>
        </p:nvSpPr>
        <p:spPr>
          <a:xfrm>
            <a:off x="4526280" y="1938528"/>
            <a:ext cx="3840480" cy="365760"/>
          </a:xfrm>
          <a:prstGeom prst="rect">
            <a:avLst/>
          </a:prstGeom>
          <a:noFill/>
        </p:spPr>
        <p:txBody>
          <a:bodyPr wrap="square" lIns="0" rIns="0" tIns="0" bIns="0" anchor="t">
            <a:spAutoFit/>
          </a:bodyPr>
          <a:lstStyle/>
          <a:p>
            <a:pPr algn="l"/>
            <a:r>
              <a:rPr sz="2000" b="1">
                <a:solidFill>
                  <a:srgbClr val="12231F"/>
                </a:solidFill>
                <a:latin typeface="Aptos"/>
              </a:rPr>
              <a:t>What the dashboard shows</a:t>
            </a:r>
          </a:p>
        </p:txBody>
      </p:sp>
      <p:sp>
        <p:nvSpPr>
          <p:cNvPr id="21" name="Rounded Rectangle 20"/>
          <p:cNvSpPr/>
          <p:nvPr/>
        </p:nvSpPr>
        <p:spPr>
          <a:xfrm>
            <a:off x="4526280" y="2542032"/>
            <a:ext cx="3063240" cy="77724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90872" y="2724912"/>
            <a:ext cx="91440" cy="41148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2660903"/>
            <a:ext cx="2240280" cy="228600"/>
          </a:xfrm>
          <a:prstGeom prst="rect">
            <a:avLst/>
          </a:prstGeom>
          <a:noFill/>
        </p:spPr>
        <p:txBody>
          <a:bodyPr wrap="square" lIns="0" rIns="0" tIns="0" bIns="0" anchor="t">
            <a:spAutoFit/>
          </a:bodyPr>
          <a:lstStyle/>
          <a:p>
            <a:pPr algn="l"/>
            <a:r>
              <a:rPr sz="1300" b="1">
                <a:solidFill>
                  <a:srgbClr val="12231F"/>
                </a:solidFill>
                <a:latin typeface="Aptos"/>
              </a:rPr>
              <a:t>Request rate</a:t>
            </a:r>
          </a:p>
        </p:txBody>
      </p:sp>
      <p:sp>
        <p:nvSpPr>
          <p:cNvPr id="24" name="TextBox 23"/>
          <p:cNvSpPr txBox="1"/>
          <p:nvPr/>
        </p:nvSpPr>
        <p:spPr>
          <a:xfrm>
            <a:off x="4937760" y="2971800"/>
            <a:ext cx="2103120" cy="182880"/>
          </a:xfrm>
          <a:prstGeom prst="rect">
            <a:avLst/>
          </a:prstGeom>
          <a:noFill/>
        </p:spPr>
        <p:txBody>
          <a:bodyPr wrap="square" lIns="0" rIns="0" tIns="0" bIns="0" anchor="t">
            <a:spAutoFit/>
          </a:bodyPr>
          <a:lstStyle/>
          <a:p>
            <a:pPr algn="l"/>
            <a:r>
              <a:rPr sz="800" b="1">
                <a:solidFill>
                  <a:srgbClr val="66746F"/>
                </a:solidFill>
                <a:latin typeface="Aptos"/>
              </a:rPr>
              <a:t>TRAFFIC</a:t>
            </a:r>
          </a:p>
        </p:txBody>
      </p:sp>
      <p:sp>
        <p:nvSpPr>
          <p:cNvPr id="25" name="Rounded Rectangle 24"/>
          <p:cNvSpPr/>
          <p:nvPr/>
        </p:nvSpPr>
        <p:spPr>
          <a:xfrm>
            <a:off x="8046720" y="2542032"/>
            <a:ext cx="3063240" cy="77724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11312" y="2724912"/>
            <a:ext cx="91440" cy="41148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2660903"/>
            <a:ext cx="2240280" cy="228600"/>
          </a:xfrm>
          <a:prstGeom prst="rect">
            <a:avLst/>
          </a:prstGeom>
          <a:noFill/>
        </p:spPr>
        <p:txBody>
          <a:bodyPr wrap="square" lIns="0" rIns="0" tIns="0" bIns="0" anchor="t">
            <a:spAutoFit/>
          </a:bodyPr>
          <a:lstStyle/>
          <a:p>
            <a:pPr algn="l"/>
            <a:r>
              <a:rPr sz="1300" b="1">
                <a:solidFill>
                  <a:srgbClr val="12231F"/>
                </a:solidFill>
                <a:latin typeface="Aptos"/>
              </a:rPr>
              <a:t>Error rate</a:t>
            </a:r>
          </a:p>
        </p:txBody>
      </p:sp>
      <p:sp>
        <p:nvSpPr>
          <p:cNvPr id="28" name="TextBox 27"/>
          <p:cNvSpPr txBox="1"/>
          <p:nvPr/>
        </p:nvSpPr>
        <p:spPr>
          <a:xfrm>
            <a:off x="8458200" y="2971800"/>
            <a:ext cx="2103120" cy="182880"/>
          </a:xfrm>
          <a:prstGeom prst="rect">
            <a:avLst/>
          </a:prstGeom>
          <a:noFill/>
        </p:spPr>
        <p:txBody>
          <a:bodyPr wrap="square" lIns="0" rIns="0" tIns="0" bIns="0" anchor="t">
            <a:spAutoFit/>
          </a:bodyPr>
          <a:lstStyle/>
          <a:p>
            <a:pPr algn="l"/>
            <a:r>
              <a:rPr sz="800" b="1">
                <a:solidFill>
                  <a:srgbClr val="66746F"/>
                </a:solidFill>
                <a:latin typeface="Aptos"/>
              </a:rPr>
              <a:t>RELIABILITY</a:t>
            </a:r>
          </a:p>
        </p:txBody>
      </p:sp>
      <p:sp>
        <p:nvSpPr>
          <p:cNvPr id="29" name="Rounded Rectangle 28"/>
          <p:cNvSpPr/>
          <p:nvPr/>
        </p:nvSpPr>
        <p:spPr>
          <a:xfrm>
            <a:off x="4526280" y="3520440"/>
            <a:ext cx="3063240" cy="77724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90872" y="3703320"/>
            <a:ext cx="91440" cy="41148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0" y="3639312"/>
            <a:ext cx="2240280" cy="228600"/>
          </a:xfrm>
          <a:prstGeom prst="rect">
            <a:avLst/>
          </a:prstGeom>
          <a:noFill/>
        </p:spPr>
        <p:txBody>
          <a:bodyPr wrap="square" lIns="0" rIns="0" tIns="0" bIns="0" anchor="t">
            <a:spAutoFit/>
          </a:bodyPr>
          <a:lstStyle/>
          <a:p>
            <a:pPr algn="l"/>
            <a:r>
              <a:rPr sz="1300" b="1">
                <a:solidFill>
                  <a:srgbClr val="12231F"/>
                </a:solidFill>
                <a:latin typeface="Aptos"/>
              </a:rPr>
              <a:t>API latency</a:t>
            </a:r>
          </a:p>
        </p:txBody>
      </p:sp>
      <p:sp>
        <p:nvSpPr>
          <p:cNvPr id="32" name="TextBox 31"/>
          <p:cNvSpPr txBox="1"/>
          <p:nvPr/>
        </p:nvSpPr>
        <p:spPr>
          <a:xfrm>
            <a:off x="4937760" y="3950208"/>
            <a:ext cx="2103120" cy="182880"/>
          </a:xfrm>
          <a:prstGeom prst="rect">
            <a:avLst/>
          </a:prstGeom>
          <a:noFill/>
        </p:spPr>
        <p:txBody>
          <a:bodyPr wrap="square" lIns="0" rIns="0" tIns="0" bIns="0" anchor="t">
            <a:spAutoFit/>
          </a:bodyPr>
          <a:lstStyle/>
          <a:p>
            <a:pPr algn="l"/>
            <a:r>
              <a:rPr sz="800" b="1">
                <a:solidFill>
                  <a:srgbClr val="66746F"/>
                </a:solidFill>
                <a:latin typeface="Aptos"/>
              </a:rPr>
              <a:t>PERFORMANCE</a:t>
            </a:r>
          </a:p>
        </p:txBody>
      </p:sp>
      <p:sp>
        <p:nvSpPr>
          <p:cNvPr id="33" name="Rounded Rectangle 32"/>
          <p:cNvSpPr/>
          <p:nvPr/>
        </p:nvSpPr>
        <p:spPr>
          <a:xfrm>
            <a:off x="8046720" y="3520440"/>
            <a:ext cx="3063240" cy="77724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11312" y="3703320"/>
            <a:ext cx="91440" cy="41148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58200" y="3639312"/>
            <a:ext cx="2240280" cy="228600"/>
          </a:xfrm>
          <a:prstGeom prst="rect">
            <a:avLst/>
          </a:prstGeom>
          <a:noFill/>
        </p:spPr>
        <p:txBody>
          <a:bodyPr wrap="square" lIns="0" rIns="0" tIns="0" bIns="0" anchor="t">
            <a:spAutoFit/>
          </a:bodyPr>
          <a:lstStyle/>
          <a:p>
            <a:pPr algn="l"/>
            <a:r>
              <a:rPr sz="1300" b="1">
                <a:solidFill>
                  <a:srgbClr val="12231F"/>
                </a:solidFill>
                <a:latin typeface="Aptos"/>
              </a:rPr>
              <a:t>Ready replicas</a:t>
            </a:r>
          </a:p>
        </p:txBody>
      </p:sp>
      <p:sp>
        <p:nvSpPr>
          <p:cNvPr id="36" name="TextBox 35"/>
          <p:cNvSpPr txBox="1"/>
          <p:nvPr/>
        </p:nvSpPr>
        <p:spPr>
          <a:xfrm>
            <a:off x="8458200" y="3950208"/>
            <a:ext cx="2103120" cy="182880"/>
          </a:xfrm>
          <a:prstGeom prst="rect">
            <a:avLst/>
          </a:prstGeom>
          <a:noFill/>
        </p:spPr>
        <p:txBody>
          <a:bodyPr wrap="square" lIns="0" rIns="0" tIns="0" bIns="0" anchor="t">
            <a:spAutoFit/>
          </a:bodyPr>
          <a:lstStyle/>
          <a:p>
            <a:pPr algn="l"/>
            <a:r>
              <a:rPr sz="800" b="1">
                <a:solidFill>
                  <a:srgbClr val="66746F"/>
                </a:solidFill>
                <a:latin typeface="Aptos"/>
              </a:rPr>
              <a:t>AVAILABILITY</a:t>
            </a:r>
          </a:p>
        </p:txBody>
      </p:sp>
      <p:sp>
        <p:nvSpPr>
          <p:cNvPr id="37" name="Rounded Rectangle 36"/>
          <p:cNvSpPr/>
          <p:nvPr/>
        </p:nvSpPr>
        <p:spPr>
          <a:xfrm>
            <a:off x="4526280" y="4498848"/>
            <a:ext cx="3063240" cy="77724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690872" y="4681728"/>
            <a:ext cx="91440" cy="41148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4617720"/>
            <a:ext cx="2240280" cy="228600"/>
          </a:xfrm>
          <a:prstGeom prst="rect">
            <a:avLst/>
          </a:prstGeom>
          <a:noFill/>
        </p:spPr>
        <p:txBody>
          <a:bodyPr wrap="square" lIns="0" rIns="0" tIns="0" bIns="0" anchor="t">
            <a:spAutoFit/>
          </a:bodyPr>
          <a:lstStyle/>
          <a:p>
            <a:pPr algn="l"/>
            <a:r>
              <a:rPr sz="1300" b="1">
                <a:solidFill>
                  <a:srgbClr val="12231F"/>
                </a:solidFill>
                <a:latin typeface="Aptos"/>
              </a:rPr>
              <a:t>JVM heap</a:t>
            </a:r>
          </a:p>
        </p:txBody>
      </p:sp>
      <p:sp>
        <p:nvSpPr>
          <p:cNvPr id="40" name="TextBox 39"/>
          <p:cNvSpPr txBox="1"/>
          <p:nvPr/>
        </p:nvSpPr>
        <p:spPr>
          <a:xfrm>
            <a:off x="4937760" y="4928616"/>
            <a:ext cx="2103120" cy="182880"/>
          </a:xfrm>
          <a:prstGeom prst="rect">
            <a:avLst/>
          </a:prstGeom>
          <a:noFill/>
        </p:spPr>
        <p:txBody>
          <a:bodyPr wrap="square" lIns="0" rIns="0" tIns="0" bIns="0" anchor="t">
            <a:spAutoFit/>
          </a:bodyPr>
          <a:lstStyle/>
          <a:p>
            <a:pPr algn="l"/>
            <a:r>
              <a:rPr sz="800" b="1">
                <a:solidFill>
                  <a:srgbClr val="66746F"/>
                </a:solidFill>
                <a:latin typeface="Aptos"/>
              </a:rPr>
              <a:t>RUNTIME</a:t>
            </a:r>
          </a:p>
        </p:txBody>
      </p:sp>
      <p:sp>
        <p:nvSpPr>
          <p:cNvPr id="41" name="Rounded Rectangle 40"/>
          <p:cNvSpPr/>
          <p:nvPr/>
        </p:nvSpPr>
        <p:spPr>
          <a:xfrm>
            <a:off x="8046720" y="4498848"/>
            <a:ext cx="3063240" cy="777240"/>
          </a:xfrm>
          <a:prstGeom prst="roundRect">
            <a:avLst/>
          </a:prstGeom>
          <a:solidFill>
            <a:srgbClr val="FFFFFF"/>
          </a:solidFill>
          <a:ln>
            <a:solidFill>
              <a:srgbClr val="DB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11312" y="4681728"/>
            <a:ext cx="91440" cy="411480"/>
          </a:xfrm>
          <a:prstGeom prst="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58200" y="4617720"/>
            <a:ext cx="2240280" cy="228600"/>
          </a:xfrm>
          <a:prstGeom prst="rect">
            <a:avLst/>
          </a:prstGeom>
          <a:noFill/>
        </p:spPr>
        <p:txBody>
          <a:bodyPr wrap="square" lIns="0" rIns="0" tIns="0" bIns="0" anchor="t">
            <a:spAutoFit/>
          </a:bodyPr>
          <a:lstStyle/>
          <a:p>
            <a:pPr algn="l"/>
            <a:r>
              <a:rPr sz="1300" b="1">
                <a:solidFill>
                  <a:srgbClr val="12231F"/>
                </a:solidFill>
                <a:latin typeface="Aptos"/>
              </a:rPr>
              <a:t>Process CPU</a:t>
            </a:r>
          </a:p>
        </p:txBody>
      </p:sp>
      <p:sp>
        <p:nvSpPr>
          <p:cNvPr id="44" name="TextBox 43"/>
          <p:cNvSpPr txBox="1"/>
          <p:nvPr/>
        </p:nvSpPr>
        <p:spPr>
          <a:xfrm>
            <a:off x="8458200" y="4928616"/>
            <a:ext cx="2103120" cy="182880"/>
          </a:xfrm>
          <a:prstGeom prst="rect">
            <a:avLst/>
          </a:prstGeom>
          <a:noFill/>
        </p:spPr>
        <p:txBody>
          <a:bodyPr wrap="square" lIns="0" rIns="0" tIns="0" bIns="0" anchor="t">
            <a:spAutoFit/>
          </a:bodyPr>
          <a:lstStyle/>
          <a:p>
            <a:pPr algn="l"/>
            <a:r>
              <a:rPr sz="800" b="1">
                <a:solidFill>
                  <a:srgbClr val="66746F"/>
                </a:solidFill>
                <a:latin typeface="Aptos"/>
              </a:rPr>
              <a:t>SCALING INPUT</a:t>
            </a:r>
          </a:p>
        </p:txBody>
      </p:sp>
      <p:sp>
        <p:nvSpPr>
          <p:cNvPr id="45" name="Rounded Rectangle 44"/>
          <p:cNvSpPr/>
          <p:nvPr/>
        </p:nvSpPr>
        <p:spPr>
          <a:xfrm>
            <a:off x="4526280" y="5532120"/>
            <a:ext cx="6583680" cy="457200"/>
          </a:xfrm>
          <a:prstGeom prst="roundRect">
            <a:avLst/>
          </a:prstGeom>
          <a:solidFill>
            <a:srgbClr val="EBF7F2"/>
          </a:solidFill>
          <a:ln>
            <a:solidFill>
              <a:srgbClr val="EB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09160" y="5641848"/>
            <a:ext cx="6217920" cy="201168"/>
          </a:xfrm>
          <a:prstGeom prst="rect">
            <a:avLst/>
          </a:prstGeom>
          <a:noFill/>
        </p:spPr>
        <p:txBody>
          <a:bodyPr wrap="square" lIns="0" rIns="0" tIns="0" bIns="0" anchor="t">
            <a:spAutoFit/>
          </a:bodyPr>
          <a:lstStyle/>
          <a:p>
            <a:pPr algn="ctr"/>
            <a:r>
              <a:rPr sz="1000" b="1">
                <a:solidFill>
                  <a:srgbClr val="277E63"/>
                </a:solidFill>
                <a:latin typeface="Aptos"/>
              </a:rPr>
              <a:t>Grafana health: database OK  •  Version 12.4.13  •  Dashboard provisioned from code</a:t>
            </a:r>
          </a:p>
        </p:txBody>
      </p:sp>
      <p:sp>
        <p:nvSpPr>
          <p:cNvPr id="47" name="TextBox 46"/>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66746F"/>
                </a:solidFill>
                <a:latin typeface="Aptos"/>
              </a:rPr>
              <a:t>STUDENT TASK MANAGER  •  CLOUD COMPUTING MINI PROJECT</a:t>
            </a:r>
          </a:p>
        </p:txBody>
      </p:sp>
      <p:sp>
        <p:nvSpPr>
          <p:cNvPr id="48" name="TextBox 47"/>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66746F"/>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B18"/>
        </a:solidFill>
        <a:effectLst/>
      </p:bgPr>
    </p:bg>
    <p:spTree>
      <p:nvGrpSpPr>
        <p:cNvPr id="1" name=""/>
        <p:cNvGrpSpPr/>
        <p:nvPr/>
      </p:nvGrpSpPr>
      <p:grpSpPr/>
      <p:sp>
        <p:nvSpPr>
          <p:cNvPr id="2" name="TextBox 1"/>
          <p:cNvSpPr txBox="1"/>
          <p:nvPr/>
        </p:nvSpPr>
        <p:spPr>
          <a:xfrm>
            <a:off x="502920" y="393192"/>
            <a:ext cx="502920" cy="320040"/>
          </a:xfrm>
          <a:prstGeom prst="rect">
            <a:avLst/>
          </a:prstGeom>
          <a:noFill/>
        </p:spPr>
        <p:txBody>
          <a:bodyPr wrap="square" lIns="0" rIns="0" tIns="0" bIns="0" anchor="t">
            <a:spAutoFit/>
          </a:bodyPr>
          <a:lstStyle/>
          <a:p>
            <a:pPr algn="l"/>
            <a:r>
              <a:rPr sz="1100" b="1">
                <a:solidFill>
                  <a:srgbClr val="BCECDD"/>
                </a:solidFill>
                <a:latin typeface="Aptos"/>
              </a:rPr>
              <a:t>08</a:t>
            </a:r>
          </a:p>
        </p:txBody>
      </p:sp>
      <p:sp>
        <p:nvSpPr>
          <p:cNvPr id="3" name="TextBox 2"/>
          <p:cNvSpPr txBox="1"/>
          <p:nvPr/>
        </p:nvSpPr>
        <p:spPr>
          <a:xfrm>
            <a:off x="987552" y="393192"/>
            <a:ext cx="4389120" cy="320040"/>
          </a:xfrm>
          <a:prstGeom prst="rect">
            <a:avLst/>
          </a:prstGeom>
          <a:noFill/>
        </p:spPr>
        <p:txBody>
          <a:bodyPr wrap="square" lIns="0" rIns="0" tIns="0" bIns="0" anchor="t">
            <a:spAutoFit/>
          </a:bodyPr>
          <a:lstStyle/>
          <a:p>
            <a:pPr algn="l"/>
            <a:r>
              <a:rPr sz="1100" b="1">
                <a:solidFill>
                  <a:srgbClr val="BCECDD"/>
                </a:solidFill>
                <a:latin typeface="Aptos"/>
              </a:rPr>
              <a:t>LIVE DEMONSTRATION</a:t>
            </a:r>
          </a:p>
        </p:txBody>
      </p:sp>
      <p:sp>
        <p:nvSpPr>
          <p:cNvPr id="4" name="TextBox 3"/>
          <p:cNvSpPr txBox="1"/>
          <p:nvPr/>
        </p:nvSpPr>
        <p:spPr>
          <a:xfrm>
            <a:off x="502920" y="804672"/>
            <a:ext cx="11064240" cy="640080"/>
          </a:xfrm>
          <a:prstGeom prst="rect">
            <a:avLst/>
          </a:prstGeom>
          <a:noFill/>
        </p:spPr>
        <p:txBody>
          <a:bodyPr wrap="square" lIns="0" rIns="0" tIns="0" bIns="0" anchor="t">
            <a:spAutoFit/>
          </a:bodyPr>
          <a:lstStyle/>
          <a:p>
            <a:pPr algn="l"/>
            <a:r>
              <a:rPr sz="3000" b="1">
                <a:solidFill>
                  <a:srgbClr val="FFFFFF"/>
                </a:solidFill>
                <a:latin typeface="Aptos"/>
              </a:rPr>
              <a:t>Show the result in four clean steps</a:t>
            </a:r>
          </a:p>
        </p:txBody>
      </p:sp>
      <p:sp>
        <p:nvSpPr>
          <p:cNvPr id="5" name="TextBox 4"/>
          <p:cNvSpPr txBox="1"/>
          <p:nvPr/>
        </p:nvSpPr>
        <p:spPr>
          <a:xfrm>
            <a:off x="530352" y="1417320"/>
            <a:ext cx="10789920" cy="411480"/>
          </a:xfrm>
          <a:prstGeom prst="rect">
            <a:avLst/>
          </a:prstGeom>
          <a:noFill/>
        </p:spPr>
        <p:txBody>
          <a:bodyPr wrap="square" lIns="0" rIns="0" tIns="0" bIns="0" anchor="t">
            <a:spAutoFit/>
          </a:bodyPr>
          <a:lstStyle/>
          <a:p>
            <a:pPr algn="l"/>
            <a:r>
              <a:rPr sz="1400" b="0">
                <a:solidFill>
                  <a:srgbClr val="BCECDD"/>
                </a:solidFill>
                <a:latin typeface="Aptos"/>
              </a:rPr>
              <a:t>All three links are clickable in Slide Show mode.</a:t>
            </a:r>
          </a:p>
        </p:txBody>
      </p:sp>
      <p:sp>
        <p:nvSpPr>
          <p:cNvPr id="6" name="Rounded Rectangle 5"/>
          <p:cNvSpPr/>
          <p:nvPr/>
        </p:nvSpPr>
        <p:spPr>
          <a:xfrm>
            <a:off x="530352" y="1965960"/>
            <a:ext cx="11109960" cy="82296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9808" y="2148840"/>
            <a:ext cx="438912" cy="438912"/>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94560"/>
            <a:ext cx="438912" cy="228600"/>
          </a:xfrm>
          <a:prstGeom prst="rect">
            <a:avLst/>
          </a:prstGeom>
          <a:noFill/>
        </p:spPr>
        <p:txBody>
          <a:bodyPr wrap="square" lIns="0" rIns="0" tIns="0" bIns="0" anchor="t">
            <a:spAutoFit/>
          </a:bodyPr>
          <a:lstStyle/>
          <a:p>
            <a:pPr algn="ctr"/>
            <a:r>
              <a:rPr sz="1100" b="1">
                <a:solidFill>
                  <a:srgbClr val="FFFFFF"/>
                </a:solidFill>
                <a:latin typeface="Aptos"/>
              </a:rPr>
              <a:t>1</a:t>
            </a:r>
          </a:p>
        </p:txBody>
      </p:sp>
      <p:sp>
        <p:nvSpPr>
          <p:cNvPr id="9" name="TextBox 8"/>
          <p:cNvSpPr txBox="1"/>
          <p:nvPr/>
        </p:nvSpPr>
        <p:spPr>
          <a:xfrm>
            <a:off x="1417320" y="2121408"/>
            <a:ext cx="1508760" cy="274320"/>
          </a:xfrm>
          <a:prstGeom prst="rect">
            <a:avLst/>
          </a:prstGeom>
          <a:noFill/>
        </p:spPr>
        <p:txBody>
          <a:bodyPr wrap="square" lIns="0" rIns="0" tIns="0" bIns="0" anchor="t">
            <a:spAutoFit/>
          </a:bodyPr>
          <a:lstStyle/>
          <a:p>
            <a:pPr algn="l"/>
            <a:r>
              <a:rPr sz="1500" b="1">
                <a:solidFill>
                  <a:srgbClr val="FFFFFF"/>
                </a:solidFill>
                <a:latin typeface="Aptos"/>
              </a:rPr>
              <a:t>Application</a:t>
            </a:r>
          </a:p>
        </p:txBody>
      </p:sp>
      <p:sp>
        <p:nvSpPr>
          <p:cNvPr id="10" name="TextBox 9"/>
          <p:cNvSpPr txBox="1"/>
          <p:nvPr/>
        </p:nvSpPr>
        <p:spPr>
          <a:xfrm>
            <a:off x="3063240" y="2130552"/>
            <a:ext cx="5303520" cy="274320"/>
          </a:xfrm>
          <a:prstGeom prst="rect">
            <a:avLst/>
          </a:prstGeom>
          <a:noFill/>
        </p:spPr>
        <p:txBody>
          <a:bodyPr wrap="square" lIns="0" rIns="0" tIns="0" bIns="0" anchor="t">
            <a:spAutoFit/>
          </a:bodyPr>
          <a:lstStyle/>
          <a:p>
            <a:pPr algn="l"/>
            <a:r>
              <a:rPr sz="1300" b="0">
                <a:solidFill>
                  <a:srgbClr val="CFDFD8"/>
                </a:solidFill>
                <a:latin typeface="Aptos"/>
              </a:rPr>
              <a:t>Create a task → complete it → refresh</a:t>
            </a:r>
          </a:p>
        </p:txBody>
      </p:sp>
      <p:sp>
        <p:nvSpPr>
          <p:cNvPr id="11" name="Rounded Rectangle 10"/>
          <p:cNvSpPr/>
          <p:nvPr/>
        </p:nvSpPr>
        <p:spPr>
          <a:xfrm>
            <a:off x="9646920" y="2130552"/>
            <a:ext cx="1417320" cy="502920"/>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hlinkClick r:id="rId2"/>
              </a:rPr>
              <a:t>OPEN  ↗</a:t>
            </a:r>
          </a:p>
        </p:txBody>
      </p:sp>
      <p:sp>
        <p:nvSpPr>
          <p:cNvPr id="12" name="Rounded Rectangle 11"/>
          <p:cNvSpPr/>
          <p:nvPr/>
        </p:nvSpPr>
        <p:spPr>
          <a:xfrm>
            <a:off x="530352" y="2926080"/>
            <a:ext cx="11109960" cy="82296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9808" y="3108960"/>
            <a:ext cx="438912" cy="438912"/>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54680"/>
            <a:ext cx="438912" cy="228600"/>
          </a:xfrm>
          <a:prstGeom prst="rect">
            <a:avLst/>
          </a:prstGeom>
          <a:noFill/>
        </p:spPr>
        <p:txBody>
          <a:bodyPr wrap="square" lIns="0" rIns="0" tIns="0" bIns="0" anchor="t">
            <a:spAutoFit/>
          </a:bodyPr>
          <a:lstStyle/>
          <a:p>
            <a:pPr algn="ctr"/>
            <a:r>
              <a:rPr sz="1100" b="1">
                <a:solidFill>
                  <a:srgbClr val="FFFFFF"/>
                </a:solidFill>
                <a:latin typeface="Aptos"/>
              </a:rPr>
              <a:t>2</a:t>
            </a:r>
          </a:p>
        </p:txBody>
      </p:sp>
      <p:sp>
        <p:nvSpPr>
          <p:cNvPr id="15" name="TextBox 14"/>
          <p:cNvSpPr txBox="1"/>
          <p:nvPr/>
        </p:nvSpPr>
        <p:spPr>
          <a:xfrm>
            <a:off x="1417320" y="3081528"/>
            <a:ext cx="1508760" cy="274320"/>
          </a:xfrm>
          <a:prstGeom prst="rect">
            <a:avLst/>
          </a:prstGeom>
          <a:noFill/>
        </p:spPr>
        <p:txBody>
          <a:bodyPr wrap="square" lIns="0" rIns="0" tIns="0" bIns="0" anchor="t">
            <a:spAutoFit/>
          </a:bodyPr>
          <a:lstStyle/>
          <a:p>
            <a:pPr algn="l"/>
            <a:r>
              <a:rPr sz="1500" b="1">
                <a:solidFill>
                  <a:srgbClr val="FFFFFF"/>
                </a:solidFill>
                <a:latin typeface="Aptos"/>
              </a:rPr>
              <a:t>Demo Console</a:t>
            </a:r>
          </a:p>
        </p:txBody>
      </p:sp>
      <p:sp>
        <p:nvSpPr>
          <p:cNvPr id="16" name="TextBox 15"/>
          <p:cNvSpPr txBox="1"/>
          <p:nvPr/>
        </p:nvSpPr>
        <p:spPr>
          <a:xfrm>
            <a:off x="3063240" y="3090672"/>
            <a:ext cx="5303520" cy="274320"/>
          </a:xfrm>
          <a:prstGeom prst="rect">
            <a:avLst/>
          </a:prstGeom>
          <a:noFill/>
        </p:spPr>
        <p:txBody>
          <a:bodyPr wrap="square" lIns="0" rIns="0" tIns="0" bIns="0" anchor="t">
            <a:spAutoFit/>
          </a:bodyPr>
          <a:lstStyle/>
          <a:p>
            <a:pPr algn="l"/>
            <a:r>
              <a:rPr sz="1300" b="0">
                <a:solidFill>
                  <a:srgbClr val="CFDFD8"/>
                </a:solidFill>
                <a:latin typeface="Aptos"/>
              </a:rPr>
              <a:t>Show readiness, pod, HPA and metrics</a:t>
            </a:r>
          </a:p>
        </p:txBody>
      </p:sp>
      <p:sp>
        <p:nvSpPr>
          <p:cNvPr id="17" name="Rounded Rectangle 16"/>
          <p:cNvSpPr/>
          <p:nvPr/>
        </p:nvSpPr>
        <p:spPr>
          <a:xfrm>
            <a:off x="9646920" y="3090672"/>
            <a:ext cx="1417320" cy="502920"/>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hlinkClick r:id="rId3"/>
              </a:rPr>
              <a:t>OPEN  ↗</a:t>
            </a:r>
          </a:p>
        </p:txBody>
      </p:sp>
      <p:sp>
        <p:nvSpPr>
          <p:cNvPr id="18" name="Rounded Rectangle 17"/>
          <p:cNvSpPr/>
          <p:nvPr/>
        </p:nvSpPr>
        <p:spPr>
          <a:xfrm>
            <a:off x="530352" y="3886200"/>
            <a:ext cx="11109960" cy="82296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9808" y="4069080"/>
            <a:ext cx="438912" cy="438912"/>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114800"/>
            <a:ext cx="438912" cy="228600"/>
          </a:xfrm>
          <a:prstGeom prst="rect">
            <a:avLst/>
          </a:prstGeom>
          <a:noFill/>
        </p:spPr>
        <p:txBody>
          <a:bodyPr wrap="square" lIns="0" rIns="0" tIns="0" bIns="0" anchor="t">
            <a:spAutoFit/>
          </a:bodyPr>
          <a:lstStyle/>
          <a:p>
            <a:pPr algn="ctr"/>
            <a:r>
              <a:rPr sz="1100" b="1">
                <a:solidFill>
                  <a:srgbClr val="FFFFFF"/>
                </a:solidFill>
                <a:latin typeface="Aptos"/>
              </a:rPr>
              <a:t>3</a:t>
            </a:r>
          </a:p>
        </p:txBody>
      </p:sp>
      <p:sp>
        <p:nvSpPr>
          <p:cNvPr id="21" name="TextBox 20"/>
          <p:cNvSpPr txBox="1"/>
          <p:nvPr/>
        </p:nvSpPr>
        <p:spPr>
          <a:xfrm>
            <a:off x="1417320" y="4041648"/>
            <a:ext cx="1508760" cy="274320"/>
          </a:xfrm>
          <a:prstGeom prst="rect">
            <a:avLst/>
          </a:prstGeom>
          <a:noFill/>
        </p:spPr>
        <p:txBody>
          <a:bodyPr wrap="square" lIns="0" rIns="0" tIns="0" bIns="0" anchor="t">
            <a:spAutoFit/>
          </a:bodyPr>
          <a:lstStyle/>
          <a:p>
            <a:pPr algn="l"/>
            <a:r>
              <a:rPr sz="1500" b="1">
                <a:solidFill>
                  <a:srgbClr val="FFFFFF"/>
                </a:solidFill>
                <a:latin typeface="Aptos"/>
              </a:rPr>
              <a:t>Autoscaling</a:t>
            </a:r>
          </a:p>
        </p:txBody>
      </p:sp>
      <p:sp>
        <p:nvSpPr>
          <p:cNvPr id="22" name="TextBox 21"/>
          <p:cNvSpPr txBox="1"/>
          <p:nvPr/>
        </p:nvSpPr>
        <p:spPr>
          <a:xfrm>
            <a:off x="3063240" y="4050791"/>
            <a:ext cx="5303520" cy="274320"/>
          </a:xfrm>
          <a:prstGeom prst="rect">
            <a:avLst/>
          </a:prstGeom>
          <a:noFill/>
        </p:spPr>
        <p:txBody>
          <a:bodyPr wrap="square" lIns="0" rIns="0" tIns="0" bIns="0" anchor="t">
            <a:spAutoFit/>
          </a:bodyPr>
          <a:lstStyle/>
          <a:p>
            <a:pPr algn="l"/>
            <a:r>
              <a:rPr sz="1300" b="0">
                <a:solidFill>
                  <a:srgbClr val="CFDFD8"/>
                </a:solidFill>
                <a:latin typeface="Aptos"/>
              </a:rPr>
              <a:t>Run bounded load and watch replicas 1 → 2</a:t>
            </a:r>
          </a:p>
        </p:txBody>
      </p:sp>
      <p:sp>
        <p:nvSpPr>
          <p:cNvPr id="23" name="Rounded Rectangle 22"/>
          <p:cNvSpPr/>
          <p:nvPr/>
        </p:nvSpPr>
        <p:spPr>
          <a:xfrm>
            <a:off x="9646920" y="4050791"/>
            <a:ext cx="1417320" cy="502920"/>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hlinkClick r:id="rId3"/>
              </a:rPr>
              <a:t>OPEN  ↗</a:t>
            </a:r>
          </a:p>
        </p:txBody>
      </p:sp>
      <p:sp>
        <p:nvSpPr>
          <p:cNvPr id="24" name="Rounded Rectangle 23"/>
          <p:cNvSpPr/>
          <p:nvPr/>
        </p:nvSpPr>
        <p:spPr>
          <a:xfrm>
            <a:off x="530352" y="4846320"/>
            <a:ext cx="11109960" cy="822960"/>
          </a:xfrm>
          <a:prstGeom prst="roundRect">
            <a:avLst/>
          </a:prstGeom>
          <a:solidFill>
            <a:srgbClr val="183730"/>
          </a:solidFill>
          <a:ln>
            <a:solidFill>
              <a:srgbClr val="315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9808" y="5029200"/>
            <a:ext cx="438912" cy="438912"/>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074920"/>
            <a:ext cx="438912" cy="228600"/>
          </a:xfrm>
          <a:prstGeom prst="rect">
            <a:avLst/>
          </a:prstGeom>
          <a:noFill/>
        </p:spPr>
        <p:txBody>
          <a:bodyPr wrap="square" lIns="0" rIns="0" tIns="0" bIns="0" anchor="t">
            <a:spAutoFit/>
          </a:bodyPr>
          <a:lstStyle/>
          <a:p>
            <a:pPr algn="ctr"/>
            <a:r>
              <a:rPr sz="1100" b="1">
                <a:solidFill>
                  <a:srgbClr val="FFFFFF"/>
                </a:solidFill>
                <a:latin typeface="Aptos"/>
              </a:rPr>
              <a:t>4</a:t>
            </a:r>
          </a:p>
        </p:txBody>
      </p:sp>
      <p:sp>
        <p:nvSpPr>
          <p:cNvPr id="27" name="TextBox 26"/>
          <p:cNvSpPr txBox="1"/>
          <p:nvPr/>
        </p:nvSpPr>
        <p:spPr>
          <a:xfrm>
            <a:off x="1417320" y="5001768"/>
            <a:ext cx="1508760" cy="274320"/>
          </a:xfrm>
          <a:prstGeom prst="rect">
            <a:avLst/>
          </a:prstGeom>
          <a:noFill/>
        </p:spPr>
        <p:txBody>
          <a:bodyPr wrap="square" lIns="0" rIns="0" tIns="0" bIns="0" anchor="t">
            <a:spAutoFit/>
          </a:bodyPr>
          <a:lstStyle/>
          <a:p>
            <a:pPr algn="l"/>
            <a:r>
              <a:rPr sz="1500" b="1">
                <a:solidFill>
                  <a:srgbClr val="FFFFFF"/>
                </a:solidFill>
                <a:latin typeface="Aptos"/>
              </a:rPr>
              <a:t>Grafana</a:t>
            </a:r>
          </a:p>
        </p:txBody>
      </p:sp>
      <p:sp>
        <p:nvSpPr>
          <p:cNvPr id="28" name="TextBox 27"/>
          <p:cNvSpPr txBox="1"/>
          <p:nvPr/>
        </p:nvSpPr>
        <p:spPr>
          <a:xfrm>
            <a:off x="3063240" y="5010912"/>
            <a:ext cx="5303520" cy="274320"/>
          </a:xfrm>
          <a:prstGeom prst="rect">
            <a:avLst/>
          </a:prstGeom>
          <a:noFill/>
        </p:spPr>
        <p:txBody>
          <a:bodyPr wrap="square" lIns="0" rIns="0" tIns="0" bIns="0" anchor="t">
            <a:spAutoFit/>
          </a:bodyPr>
          <a:lstStyle/>
          <a:p>
            <a:pPr algn="l"/>
            <a:r>
              <a:rPr sz="1300" b="0">
                <a:solidFill>
                  <a:srgbClr val="CFDFD8"/>
                </a:solidFill>
                <a:latin typeface="Aptos"/>
              </a:rPr>
              <a:t>Open the live six-panel operations view</a:t>
            </a:r>
          </a:p>
        </p:txBody>
      </p:sp>
      <p:sp>
        <p:nvSpPr>
          <p:cNvPr id="29" name="Rounded Rectangle 28"/>
          <p:cNvSpPr/>
          <p:nvPr/>
        </p:nvSpPr>
        <p:spPr>
          <a:xfrm>
            <a:off x="9646920" y="5010912"/>
            <a:ext cx="1417320" cy="502920"/>
          </a:xfrm>
          <a:prstGeom prst="roundRect">
            <a:avLst/>
          </a:prstGeom>
          <a:solidFill>
            <a:srgbClr val="277E63"/>
          </a:solidFill>
          <a:ln>
            <a:solidFill>
              <a:srgbClr val="277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hlinkClick r:id="rId4"/>
              </a:rPr>
              <a:t>OPEN  ↗</a:t>
            </a:r>
          </a:p>
        </p:txBody>
      </p:sp>
      <p:sp>
        <p:nvSpPr>
          <p:cNvPr id="30" name="Rounded Rectangle 29"/>
          <p:cNvSpPr/>
          <p:nvPr/>
        </p:nvSpPr>
        <p:spPr>
          <a:xfrm>
            <a:off x="530352" y="5925312"/>
            <a:ext cx="11109960" cy="356616"/>
          </a:xfrm>
          <a:prstGeom prst="roundRect">
            <a:avLst/>
          </a:prstGeom>
          <a:solidFill>
            <a:srgbClr val="4B3327"/>
          </a:solidFill>
          <a:ln>
            <a:solidFill>
              <a:srgbClr val="4B33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5998464"/>
            <a:ext cx="10652760" cy="182880"/>
          </a:xfrm>
          <a:prstGeom prst="rect">
            <a:avLst/>
          </a:prstGeom>
          <a:noFill/>
        </p:spPr>
        <p:txBody>
          <a:bodyPr wrap="square" lIns="0" rIns="0" tIns="0" bIns="0" anchor="t">
            <a:spAutoFit/>
          </a:bodyPr>
          <a:lstStyle/>
          <a:p>
            <a:pPr algn="ctr"/>
            <a:r>
              <a:rPr sz="1000" b="1">
                <a:solidFill>
                  <a:srgbClr val="FCDDB9"/>
                </a:solidFill>
                <a:latin typeface="Aptos"/>
              </a:rPr>
              <a:t>Demo access is temporary and unauthenticated. RDS remains private; close public ports after presenting.</a:t>
            </a:r>
          </a:p>
        </p:txBody>
      </p:sp>
      <p:sp>
        <p:nvSpPr>
          <p:cNvPr id="32" name="TextBox 31"/>
          <p:cNvSpPr txBox="1"/>
          <p:nvPr/>
        </p:nvSpPr>
        <p:spPr>
          <a:xfrm>
            <a:off x="530352" y="6492240"/>
            <a:ext cx="6858000" cy="182880"/>
          </a:xfrm>
          <a:prstGeom prst="rect">
            <a:avLst/>
          </a:prstGeom>
          <a:noFill/>
        </p:spPr>
        <p:txBody>
          <a:bodyPr wrap="square" lIns="0" rIns="0" tIns="0" bIns="0" anchor="t">
            <a:spAutoFit/>
          </a:bodyPr>
          <a:lstStyle/>
          <a:p>
            <a:pPr algn="l"/>
            <a:r>
              <a:rPr sz="800" b="1">
                <a:solidFill>
                  <a:srgbClr val="91A79E"/>
                </a:solidFill>
                <a:latin typeface="Aptos"/>
              </a:rPr>
              <a:t>STUDENT TASK MANAGER  •  CLOUD COMPUTING MINI PROJECT</a:t>
            </a:r>
          </a:p>
        </p:txBody>
      </p:sp>
      <p:sp>
        <p:nvSpPr>
          <p:cNvPr id="33" name="TextBox 32"/>
          <p:cNvSpPr txBox="1"/>
          <p:nvPr/>
        </p:nvSpPr>
        <p:spPr>
          <a:xfrm>
            <a:off x="11155680" y="6473952"/>
            <a:ext cx="411480" cy="201168"/>
          </a:xfrm>
          <a:prstGeom prst="rect">
            <a:avLst/>
          </a:prstGeom>
          <a:noFill/>
        </p:spPr>
        <p:txBody>
          <a:bodyPr wrap="square" lIns="0" rIns="0" tIns="0" bIns="0" anchor="t">
            <a:spAutoFit/>
          </a:bodyPr>
          <a:lstStyle/>
          <a:p>
            <a:pPr algn="r"/>
            <a:r>
              <a:rPr sz="900" b="1">
                <a:solidFill>
                  <a:srgbClr val="91A79E"/>
                </a:solidFill>
                <a:latin typeface="Aptos"/>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Auto-Scaling and Self-Healing Cloud-Native Student Task Manager</dc:title>
  <dc:subject>CCD mini project presentation</dc:subject>
  <dc:creator>Myisha Siddiqui, Manan Bhasin, Rishabh Raj</dc:creator>
  <cp:keywords/>
  <dc:description>Generated from verified project evidence.</dc:description>
  <cp:lastModifiedBy>Steve Canny</cp:lastModifiedBy>
  <cp:revision>1</cp:revision>
  <dcterms:created xsi:type="dcterms:W3CDTF">2013-01-27T09:14:16Z</dcterms:created>
  <dcterms:modified xsi:type="dcterms:W3CDTF">2013-01-27T09:15:58Z</dcterms:modified>
  <cp:category/>
</cp:coreProperties>
</file>